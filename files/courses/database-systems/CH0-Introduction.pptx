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57" r:id="rId4"/>
    <p:sldId id="258" r:id="rId5"/>
    <p:sldId id="259" r:id="rId6"/>
    <p:sldId id="267" r:id="rId7"/>
    <p:sldId id="268" r:id="rId8"/>
    <p:sldId id="26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br>
              <a:rPr lang="fr-FR" dirty="0" smtClean="0"/>
            </a:br>
            <a:r>
              <a:rPr lang="fr-FR" dirty="0" smtClean="0"/>
              <a:t>Entrepôt </a:t>
            </a:r>
            <a:r>
              <a:rPr lang="fr-FR" smtClean="0"/>
              <a:t>de données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Avec Mme Roua Ben </a:t>
            </a:r>
            <a:r>
              <a:rPr lang="fr-FR" dirty="0" err="1" smtClean="0"/>
              <a:t>Hamouda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891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93069" y="365312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Le contexte</a:t>
            </a:r>
          </a:p>
        </p:txBody>
      </p:sp>
      <p:sp>
        <p:nvSpPr>
          <p:cNvPr id="3" name="Espace réservé du numéro de diapositive 5"/>
          <p:cNvSpPr>
            <a:spLocks noGrp="1"/>
          </p:cNvSpPr>
          <p:nvPr/>
        </p:nvSpPr>
        <p:spPr bwMode="auto">
          <a:xfrm>
            <a:off x="8650896" y="613877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EF96F0B6-6F3B-4563-B7B8-3C8AA47DA2A0}" type="slidenum">
              <a:rPr lang="fr-FR" smtClean="0"/>
              <a:pPr/>
              <a:t>2</a:t>
            </a:fld>
            <a:endParaRPr lang="fr-FR" smtClean="0"/>
          </a:p>
        </p:txBody>
      </p:sp>
      <p:sp>
        <p:nvSpPr>
          <p:cNvPr id="4" name="Rectangle 3"/>
          <p:cNvSpPr>
            <a:spLocks noGrp="1" noChangeArrowheads="1"/>
          </p:cNvSpPr>
          <p:nvPr/>
        </p:nvSpPr>
        <p:spPr bwMode="auto">
          <a:xfrm>
            <a:off x="2007209" y="1535020"/>
            <a:ext cx="8548687" cy="147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lnSpc>
                <a:spcPct val="80000"/>
              </a:lnSpc>
            </a:pPr>
            <a:r>
              <a:rPr lang="fr-FR" sz="2400" dirty="0" smtClean="0"/>
              <a:t>Besoin: prise de décisions stratégiques et politiques</a:t>
            </a:r>
          </a:p>
          <a:p>
            <a:pPr eaLnBrk="1" hangingPunct="1">
              <a:lnSpc>
                <a:spcPct val="80000"/>
              </a:lnSpc>
            </a:pPr>
            <a:r>
              <a:rPr lang="fr-FR" sz="2400" dirty="0" smtClean="0"/>
              <a:t>Pourquoi: besoin de réactivité face à la concurrence</a:t>
            </a:r>
          </a:p>
          <a:p>
            <a:pPr eaLnBrk="1" hangingPunct="1">
              <a:lnSpc>
                <a:spcPct val="80000"/>
              </a:lnSpc>
            </a:pPr>
            <a:r>
              <a:rPr lang="fr-FR" sz="2400" dirty="0" smtClean="0"/>
              <a:t>Qui: les décideurs (non informaticiens)</a:t>
            </a:r>
          </a:p>
          <a:p>
            <a:pPr eaLnBrk="1" hangingPunct="1">
              <a:lnSpc>
                <a:spcPct val="80000"/>
              </a:lnSpc>
            </a:pPr>
            <a:r>
              <a:rPr lang="fr-FR" sz="2400" dirty="0" smtClean="0"/>
              <a:t>Comment: en répondant aux demandes d’analyse</a:t>
            </a:r>
          </a:p>
        </p:txBody>
      </p:sp>
      <p:pic>
        <p:nvPicPr>
          <p:cNvPr id="5" name="Picture 4" descr="j02330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15559" y="3921033"/>
            <a:ext cx="2574925" cy="2614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AutoShape 8"/>
          <p:cNvSpPr>
            <a:spLocks noChangeArrowheads="1"/>
          </p:cNvSpPr>
          <p:nvPr/>
        </p:nvSpPr>
        <p:spPr bwMode="auto">
          <a:xfrm>
            <a:off x="2772384" y="3054258"/>
            <a:ext cx="2417762" cy="1354137"/>
          </a:xfrm>
          <a:prstGeom prst="cloudCallout">
            <a:avLst>
              <a:gd name="adj1" fmla="val 105944"/>
              <a:gd name="adj2" fmla="val 36282"/>
            </a:avLst>
          </a:prstGeom>
          <a:solidFill>
            <a:srgbClr val="CAD1E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Qui sont mes meilleurs clients?</a:t>
            </a:r>
          </a:p>
        </p:txBody>
      </p:sp>
      <p:sp>
        <p:nvSpPr>
          <p:cNvPr id="7" name="AutoShape 9"/>
          <p:cNvSpPr>
            <a:spLocks noChangeArrowheads="1"/>
          </p:cNvSpPr>
          <p:nvPr/>
        </p:nvSpPr>
        <p:spPr bwMode="auto">
          <a:xfrm>
            <a:off x="8193696" y="4598895"/>
            <a:ext cx="2708275" cy="1538288"/>
          </a:xfrm>
          <a:prstGeom prst="cloudCallout">
            <a:avLst>
              <a:gd name="adj1" fmla="val -71806"/>
              <a:gd name="adj2" fmla="val 31731"/>
            </a:avLst>
          </a:prstGeom>
          <a:solidFill>
            <a:srgbClr val="CAD1E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A combien s’élèvent mes ventes journalières?</a:t>
            </a:r>
          </a:p>
        </p:txBody>
      </p:sp>
      <p:sp>
        <p:nvSpPr>
          <p:cNvPr id="8" name="AutoShape 10"/>
          <p:cNvSpPr>
            <a:spLocks noChangeArrowheads="1"/>
          </p:cNvSpPr>
          <p:nvPr/>
        </p:nvSpPr>
        <p:spPr bwMode="auto">
          <a:xfrm>
            <a:off x="2094521" y="4721133"/>
            <a:ext cx="2636838" cy="1679575"/>
          </a:xfrm>
          <a:prstGeom prst="cloudCallout">
            <a:avLst>
              <a:gd name="adj1" fmla="val 80884"/>
              <a:gd name="adj2" fmla="val -22023"/>
            </a:avLst>
          </a:prstGeom>
          <a:solidFill>
            <a:srgbClr val="CAD1E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Quels français consomment beaucoup de poisson? </a:t>
            </a:r>
          </a:p>
        </p:txBody>
      </p:sp>
      <p:sp>
        <p:nvSpPr>
          <p:cNvPr id="9" name="AutoShape 11"/>
          <p:cNvSpPr>
            <a:spLocks noChangeArrowheads="1"/>
          </p:cNvSpPr>
          <p:nvPr/>
        </p:nvSpPr>
        <p:spPr bwMode="auto">
          <a:xfrm>
            <a:off x="8304821" y="3120933"/>
            <a:ext cx="2278063" cy="1366837"/>
          </a:xfrm>
          <a:prstGeom prst="cloudCallout">
            <a:avLst>
              <a:gd name="adj1" fmla="val -71741"/>
              <a:gd name="adj2" fmla="val 41755"/>
            </a:avLst>
          </a:prstGeom>
          <a:solidFill>
            <a:srgbClr val="CAD1E8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Où placer ce produit dans les rayons?</a:t>
            </a:r>
          </a:p>
        </p:txBody>
      </p:sp>
    </p:spTree>
    <p:extLst>
      <p:ext uri="{BB962C8B-B14F-4D97-AF65-F5344CB8AC3E}">
        <p14:creationId xmlns:p14="http://schemas.microsoft.com/office/powerpoint/2010/main" val="1828521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93069" y="329453"/>
            <a:ext cx="952177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Quelques métiers du décisionnel</a:t>
            </a:r>
          </a:p>
        </p:txBody>
      </p:sp>
      <p:sp>
        <p:nvSpPr>
          <p:cNvPr id="3" name="Rectangle 2"/>
          <p:cNvSpPr>
            <a:spLocks noGrp="1" noChangeArrowheads="1"/>
          </p:cNvSpPr>
          <p:nvPr/>
        </p:nvSpPr>
        <p:spPr bwMode="auto">
          <a:xfrm>
            <a:off x="1693069" y="1472453"/>
            <a:ext cx="10223967" cy="506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defRPr sz="26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5000"/>
              <a:buFont typeface="Wingdings" pitchFamily="2" charset="2"/>
              <a:buChar char="n"/>
              <a:defRPr sz="23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fr-FR" sz="2000" dirty="0" err="1" smtClean="0">
                <a:solidFill>
                  <a:schemeClr val="tx2"/>
                </a:solidFill>
              </a:rPr>
              <a:t>Strategic</a:t>
            </a:r>
            <a:r>
              <a:rPr lang="fr-FR" sz="2000" dirty="0" smtClean="0">
                <a:solidFill>
                  <a:schemeClr val="tx2"/>
                </a:solidFill>
              </a:rPr>
              <a:t> Performance Management</a:t>
            </a:r>
          </a:p>
          <a:p>
            <a:pPr lvl="1" eaLnBrk="1" hangingPunct="1"/>
            <a:r>
              <a:rPr lang="fr-FR" sz="2100" dirty="0" smtClean="0"/>
              <a:t>Déterminer et contrôler les indicateurs clé de la performance de l’entreprise</a:t>
            </a:r>
          </a:p>
          <a:p>
            <a:pPr eaLnBrk="1" hangingPunct="1"/>
            <a:r>
              <a:rPr lang="fr-FR" sz="2000" dirty="0" smtClean="0">
                <a:solidFill>
                  <a:schemeClr val="tx2"/>
                </a:solidFill>
              </a:rPr>
              <a:t>Finance Intelligence</a:t>
            </a:r>
          </a:p>
          <a:p>
            <a:pPr lvl="1" eaLnBrk="1" hangingPunct="1"/>
            <a:r>
              <a:rPr lang="fr-FR" sz="2100" dirty="0" smtClean="0"/>
              <a:t>Planifier, analyser et diffuser l’information financière. Mesurer et gérer les risques</a:t>
            </a:r>
          </a:p>
          <a:p>
            <a:pPr eaLnBrk="1" hangingPunct="1"/>
            <a:r>
              <a:rPr lang="fr-FR" sz="2000" dirty="0" err="1" smtClean="0">
                <a:solidFill>
                  <a:schemeClr val="tx2"/>
                </a:solidFill>
              </a:rPr>
              <a:t>Human</a:t>
            </a:r>
            <a:r>
              <a:rPr lang="fr-FR" sz="2000" dirty="0" smtClean="0">
                <a:solidFill>
                  <a:schemeClr val="tx2"/>
                </a:solidFill>
              </a:rPr>
              <a:t> Capital Management</a:t>
            </a:r>
            <a:r>
              <a:rPr lang="fr-FR" sz="2000" dirty="0" smtClean="0"/>
              <a:t> (gestion de la relation avec les employés)</a:t>
            </a:r>
          </a:p>
          <a:p>
            <a:pPr lvl="1" eaLnBrk="1" hangingPunct="1"/>
            <a:r>
              <a:rPr lang="fr-FR" sz="2100" dirty="0" smtClean="0"/>
              <a:t>Aligner les stratégies RH, les processus et les technologies. </a:t>
            </a:r>
          </a:p>
          <a:p>
            <a:pPr eaLnBrk="1" hangingPunct="1"/>
            <a:r>
              <a:rPr lang="fr-FR" sz="2000" dirty="0" smtClean="0">
                <a:solidFill>
                  <a:schemeClr val="tx2"/>
                </a:solidFill>
              </a:rPr>
              <a:t>Customer Relationship Management</a:t>
            </a:r>
            <a:r>
              <a:rPr lang="fr-FR" sz="2000" dirty="0" smtClean="0"/>
              <a:t> (gestion de la relation client)</a:t>
            </a:r>
          </a:p>
          <a:p>
            <a:pPr lvl="1" eaLnBrk="1" hangingPunct="1"/>
            <a:r>
              <a:rPr lang="fr-FR" sz="2100" dirty="0" smtClean="0"/>
              <a:t>Améliorer la connaissance client, identifier et prévoir la rentabilité client, accroitre l’efficacité du marketing client</a:t>
            </a:r>
          </a:p>
          <a:p>
            <a:pPr eaLnBrk="1" hangingPunct="1"/>
            <a:r>
              <a:rPr lang="fr-FR" sz="2000" dirty="0" smtClean="0">
                <a:solidFill>
                  <a:schemeClr val="tx2"/>
                </a:solidFill>
              </a:rPr>
              <a:t>Supplier Relationship Management</a:t>
            </a:r>
            <a:r>
              <a:rPr lang="fr-FR" sz="2000" dirty="0" smtClean="0"/>
              <a:t> (gestion de la relation fournisseur)</a:t>
            </a:r>
          </a:p>
          <a:p>
            <a:pPr lvl="1" eaLnBrk="1" hangingPunct="1"/>
            <a:r>
              <a:rPr lang="fr-FR" sz="2100" dirty="0" smtClean="0"/>
              <a:t>Classifier et évaluer l’ensemble des fournisseurs. Planifier et piloter la stratégie Achat.</a:t>
            </a:r>
          </a:p>
        </p:txBody>
      </p:sp>
    </p:spTree>
    <p:extLst>
      <p:ext uri="{BB962C8B-B14F-4D97-AF65-F5344CB8AC3E}">
        <p14:creationId xmlns:p14="http://schemas.microsoft.com/office/powerpoint/2010/main" val="132849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30315" y="383241"/>
            <a:ext cx="95576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Le processus de prise de décision (1/2)</a:t>
            </a:r>
          </a:p>
        </p:txBody>
      </p:sp>
      <p:sp>
        <p:nvSpPr>
          <p:cNvPr id="3" name="Line 4"/>
          <p:cNvSpPr>
            <a:spLocks noChangeShapeType="1"/>
          </p:cNvSpPr>
          <p:nvPr/>
        </p:nvSpPr>
        <p:spPr bwMode="auto">
          <a:xfrm>
            <a:off x="2540839" y="4398965"/>
            <a:ext cx="8021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347414" y="4595815"/>
            <a:ext cx="4360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/>
              <a:t>Temps de prise d’une décision</a:t>
            </a:r>
          </a:p>
        </p:txBody>
      </p:sp>
      <p:sp>
        <p:nvSpPr>
          <p:cNvPr id="5" name="Text Box 6"/>
          <p:cNvSpPr txBox="1">
            <a:spLocks noChangeArrowheads="1"/>
          </p:cNvSpPr>
          <p:nvPr/>
        </p:nvSpPr>
        <p:spPr bwMode="auto">
          <a:xfrm>
            <a:off x="2423364" y="3379790"/>
            <a:ext cx="1468438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 anchorCtr="1"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/>
              <a:t>Définir le problème</a:t>
            </a: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928314" y="3381377"/>
            <a:ext cx="1876425" cy="831850"/>
          </a:xfrm>
          <a:prstGeom prst="rect">
            <a:avLst/>
          </a:prstGeom>
          <a:solidFill>
            <a:srgbClr val="E2E6F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/>
              <a:t>Rassembler les données</a:t>
            </a:r>
          </a:p>
        </p:txBody>
      </p:sp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5850777" y="3379790"/>
            <a:ext cx="1849437" cy="831850"/>
          </a:xfrm>
          <a:prstGeom prst="rect">
            <a:avLst/>
          </a:prstGeom>
          <a:solidFill>
            <a:srgbClr val="E2E6F2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/>
              <a:t>Analyser les données</a:t>
            </a: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736727" y="3381377"/>
            <a:ext cx="1647825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/>
              <a:t>Établir des solutions</a:t>
            </a:r>
          </a:p>
        </p:txBody>
      </p:sp>
      <p:sp>
        <p:nvSpPr>
          <p:cNvPr id="9" name="Text Box 10"/>
          <p:cNvSpPr txBox="1">
            <a:spLocks noChangeArrowheads="1"/>
          </p:cNvSpPr>
          <p:nvPr/>
        </p:nvSpPr>
        <p:spPr bwMode="auto">
          <a:xfrm>
            <a:off x="9468689" y="3381377"/>
            <a:ext cx="133985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/>
              <a:t>Décider</a:t>
            </a:r>
            <a:br>
              <a:rPr lang="fr-FR" sz="2400"/>
            </a:br>
            <a:endParaRPr lang="fr-FR" sz="2400"/>
          </a:p>
        </p:txBody>
      </p:sp>
      <p:sp>
        <p:nvSpPr>
          <p:cNvPr id="10" name="AutoShape 11"/>
          <p:cNvSpPr>
            <a:spLocks/>
          </p:cNvSpPr>
          <p:nvPr/>
        </p:nvSpPr>
        <p:spPr bwMode="auto">
          <a:xfrm rot="16200000">
            <a:off x="5557883" y="1232696"/>
            <a:ext cx="487363" cy="3660775"/>
          </a:xfrm>
          <a:prstGeom prst="rightBrace">
            <a:avLst>
              <a:gd name="adj1" fmla="val 6259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11" name="Text Box 12"/>
          <p:cNvSpPr txBox="1">
            <a:spLocks noChangeArrowheads="1"/>
          </p:cNvSpPr>
          <p:nvPr/>
        </p:nvSpPr>
        <p:spPr bwMode="auto">
          <a:xfrm>
            <a:off x="3925139" y="2109790"/>
            <a:ext cx="4014788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400" dirty="0"/>
              <a:t>Champs d’application des systèmes décisionnels</a:t>
            </a:r>
          </a:p>
        </p:txBody>
      </p:sp>
    </p:spTree>
    <p:extLst>
      <p:ext uri="{BB962C8B-B14F-4D97-AF65-F5344CB8AC3E}">
        <p14:creationId xmlns:p14="http://schemas.microsoft.com/office/powerpoint/2010/main" val="173613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30315" y="383241"/>
            <a:ext cx="95576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Le processus de prise de décision (2/2)</a:t>
            </a:r>
          </a:p>
        </p:txBody>
      </p:sp>
      <p:sp>
        <p:nvSpPr>
          <p:cNvPr id="3" name="AutoShape 4"/>
          <p:cNvSpPr>
            <a:spLocks noChangeArrowheads="1"/>
          </p:cNvSpPr>
          <p:nvPr/>
        </p:nvSpPr>
        <p:spPr bwMode="auto">
          <a:xfrm>
            <a:off x="3002852" y="1710204"/>
            <a:ext cx="623887" cy="682625"/>
          </a:xfrm>
          <a:prstGeom prst="can">
            <a:avLst>
              <a:gd name="adj" fmla="val 2735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4" name="AutoShape 5"/>
          <p:cNvSpPr>
            <a:spLocks noChangeArrowheads="1"/>
          </p:cNvSpPr>
          <p:nvPr/>
        </p:nvSpPr>
        <p:spPr bwMode="auto">
          <a:xfrm>
            <a:off x="3009202" y="2827804"/>
            <a:ext cx="623887" cy="682625"/>
          </a:xfrm>
          <a:prstGeom prst="can">
            <a:avLst>
              <a:gd name="adj" fmla="val 2735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" name="AutoShape 6"/>
          <p:cNvSpPr>
            <a:spLocks noChangeArrowheads="1"/>
          </p:cNvSpPr>
          <p:nvPr/>
        </p:nvSpPr>
        <p:spPr bwMode="auto">
          <a:xfrm>
            <a:off x="2969514" y="3978741"/>
            <a:ext cx="623888" cy="682625"/>
          </a:xfrm>
          <a:prstGeom prst="can">
            <a:avLst>
              <a:gd name="adj" fmla="val 2735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004689" y="2369016"/>
            <a:ext cx="1655763" cy="1654175"/>
          </a:xfrm>
          <a:prstGeom prst="can">
            <a:avLst>
              <a:gd name="adj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grpSp>
        <p:nvGrpSpPr>
          <p:cNvPr id="7" name="Group 311"/>
          <p:cNvGrpSpPr>
            <a:grpSpLocks/>
          </p:cNvGrpSpPr>
          <p:nvPr/>
        </p:nvGrpSpPr>
        <p:grpSpPr bwMode="auto">
          <a:xfrm>
            <a:off x="7381171" y="2742078"/>
            <a:ext cx="903286" cy="849312"/>
            <a:chOff x="2635" y="3277"/>
            <a:chExt cx="569" cy="535"/>
          </a:xfrm>
        </p:grpSpPr>
        <p:grpSp>
          <p:nvGrpSpPr>
            <p:cNvPr id="74" name="Group 284"/>
            <p:cNvGrpSpPr>
              <a:grpSpLocks/>
            </p:cNvGrpSpPr>
            <p:nvPr/>
          </p:nvGrpSpPr>
          <p:grpSpPr bwMode="auto">
            <a:xfrm>
              <a:off x="2727" y="3277"/>
              <a:ext cx="477" cy="437"/>
              <a:chOff x="2727" y="3277"/>
              <a:chExt cx="477" cy="437"/>
            </a:xfrm>
          </p:grpSpPr>
          <p:grpSp>
            <p:nvGrpSpPr>
              <p:cNvPr id="101" name="Group 280"/>
              <p:cNvGrpSpPr>
                <a:grpSpLocks/>
              </p:cNvGrpSpPr>
              <p:nvPr/>
            </p:nvGrpSpPr>
            <p:grpSpPr bwMode="auto">
              <a:xfrm>
                <a:off x="2731" y="3536"/>
                <a:ext cx="473" cy="178"/>
                <a:chOff x="2727" y="3277"/>
                <a:chExt cx="473" cy="178"/>
              </a:xfrm>
            </p:grpSpPr>
            <p:sp>
              <p:nvSpPr>
                <p:cNvPr id="110" name="AutoShape 281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11" name="AutoShape 282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12" name="AutoShape 283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102" name="Group 276"/>
              <p:cNvGrpSpPr>
                <a:grpSpLocks/>
              </p:cNvGrpSpPr>
              <p:nvPr/>
            </p:nvGrpSpPr>
            <p:grpSpPr bwMode="auto">
              <a:xfrm>
                <a:off x="2730" y="3412"/>
                <a:ext cx="473" cy="178"/>
                <a:chOff x="2727" y="3277"/>
                <a:chExt cx="473" cy="178"/>
              </a:xfrm>
            </p:grpSpPr>
            <p:sp>
              <p:nvSpPr>
                <p:cNvPr id="107" name="AutoShape 277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08" name="AutoShape 278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09" name="AutoShape 279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103" name="Group 275"/>
              <p:cNvGrpSpPr>
                <a:grpSpLocks/>
              </p:cNvGrpSpPr>
              <p:nvPr/>
            </p:nvGrpSpPr>
            <p:grpSpPr bwMode="auto">
              <a:xfrm>
                <a:off x="2727" y="3277"/>
                <a:ext cx="473" cy="178"/>
                <a:chOff x="2727" y="3277"/>
                <a:chExt cx="473" cy="178"/>
              </a:xfrm>
            </p:grpSpPr>
            <p:sp>
              <p:nvSpPr>
                <p:cNvPr id="104" name="AutoShape 85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05" name="AutoShape 86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06" name="AutoShape 87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</p:grpSp>
        <p:grpSp>
          <p:nvGrpSpPr>
            <p:cNvPr id="75" name="Group 285"/>
            <p:cNvGrpSpPr>
              <a:grpSpLocks/>
            </p:cNvGrpSpPr>
            <p:nvPr/>
          </p:nvGrpSpPr>
          <p:grpSpPr bwMode="auto">
            <a:xfrm>
              <a:off x="2679" y="3325"/>
              <a:ext cx="477" cy="437"/>
              <a:chOff x="2727" y="3277"/>
              <a:chExt cx="477" cy="437"/>
            </a:xfrm>
          </p:grpSpPr>
          <p:grpSp>
            <p:nvGrpSpPr>
              <p:cNvPr id="89" name="Group 286"/>
              <p:cNvGrpSpPr>
                <a:grpSpLocks/>
              </p:cNvGrpSpPr>
              <p:nvPr/>
            </p:nvGrpSpPr>
            <p:grpSpPr bwMode="auto">
              <a:xfrm>
                <a:off x="2731" y="3536"/>
                <a:ext cx="473" cy="178"/>
                <a:chOff x="2727" y="3277"/>
                <a:chExt cx="473" cy="178"/>
              </a:xfrm>
            </p:grpSpPr>
            <p:sp>
              <p:nvSpPr>
                <p:cNvPr id="98" name="AutoShape 287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99" name="AutoShape 288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100" name="AutoShape 289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90" name="Group 290"/>
              <p:cNvGrpSpPr>
                <a:grpSpLocks/>
              </p:cNvGrpSpPr>
              <p:nvPr/>
            </p:nvGrpSpPr>
            <p:grpSpPr bwMode="auto">
              <a:xfrm>
                <a:off x="2730" y="3412"/>
                <a:ext cx="473" cy="178"/>
                <a:chOff x="2727" y="3277"/>
                <a:chExt cx="473" cy="178"/>
              </a:xfrm>
            </p:grpSpPr>
            <p:sp>
              <p:nvSpPr>
                <p:cNvPr id="95" name="AutoShape 291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96" name="AutoShape 292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97" name="AutoShape 293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91" name="Group 294"/>
              <p:cNvGrpSpPr>
                <a:grpSpLocks/>
              </p:cNvGrpSpPr>
              <p:nvPr/>
            </p:nvGrpSpPr>
            <p:grpSpPr bwMode="auto">
              <a:xfrm>
                <a:off x="2727" y="3277"/>
                <a:ext cx="473" cy="178"/>
                <a:chOff x="2727" y="3277"/>
                <a:chExt cx="473" cy="178"/>
              </a:xfrm>
            </p:grpSpPr>
            <p:sp>
              <p:nvSpPr>
                <p:cNvPr id="92" name="AutoShape 295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93" name="AutoShape 296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94" name="AutoShape 297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</p:grpSp>
        <p:grpSp>
          <p:nvGrpSpPr>
            <p:cNvPr id="76" name="Group 298"/>
            <p:cNvGrpSpPr>
              <a:grpSpLocks/>
            </p:cNvGrpSpPr>
            <p:nvPr/>
          </p:nvGrpSpPr>
          <p:grpSpPr bwMode="auto">
            <a:xfrm>
              <a:off x="2635" y="3375"/>
              <a:ext cx="477" cy="437"/>
              <a:chOff x="2727" y="3277"/>
              <a:chExt cx="477" cy="437"/>
            </a:xfrm>
          </p:grpSpPr>
          <p:grpSp>
            <p:nvGrpSpPr>
              <p:cNvPr id="77" name="Group 299"/>
              <p:cNvGrpSpPr>
                <a:grpSpLocks/>
              </p:cNvGrpSpPr>
              <p:nvPr/>
            </p:nvGrpSpPr>
            <p:grpSpPr bwMode="auto">
              <a:xfrm>
                <a:off x="2731" y="3536"/>
                <a:ext cx="473" cy="178"/>
                <a:chOff x="2727" y="3277"/>
                <a:chExt cx="473" cy="178"/>
              </a:xfrm>
            </p:grpSpPr>
            <p:sp>
              <p:nvSpPr>
                <p:cNvPr id="86" name="AutoShape 300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87" name="AutoShape 301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88" name="AutoShape 302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78" name="Group 303"/>
              <p:cNvGrpSpPr>
                <a:grpSpLocks/>
              </p:cNvGrpSpPr>
              <p:nvPr/>
            </p:nvGrpSpPr>
            <p:grpSpPr bwMode="auto">
              <a:xfrm>
                <a:off x="2730" y="3412"/>
                <a:ext cx="473" cy="178"/>
                <a:chOff x="2727" y="3277"/>
                <a:chExt cx="473" cy="178"/>
              </a:xfrm>
            </p:grpSpPr>
            <p:sp>
              <p:nvSpPr>
                <p:cNvPr id="83" name="AutoShape 304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84" name="AutoShape 305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85" name="AutoShape 306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79" name="Group 307"/>
              <p:cNvGrpSpPr>
                <a:grpSpLocks/>
              </p:cNvGrpSpPr>
              <p:nvPr/>
            </p:nvGrpSpPr>
            <p:grpSpPr bwMode="auto">
              <a:xfrm>
                <a:off x="2727" y="3277"/>
                <a:ext cx="473" cy="178"/>
                <a:chOff x="2727" y="3277"/>
                <a:chExt cx="473" cy="178"/>
              </a:xfrm>
            </p:grpSpPr>
            <p:sp>
              <p:nvSpPr>
                <p:cNvPr id="80" name="AutoShape 308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81" name="AutoShape 309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82" name="AutoShape 310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</p:grpSp>
      </p:grpSp>
      <p:grpSp>
        <p:nvGrpSpPr>
          <p:cNvPr id="8" name="Group 429"/>
          <p:cNvGrpSpPr>
            <a:grpSpLocks/>
          </p:cNvGrpSpPr>
          <p:nvPr/>
        </p:nvGrpSpPr>
        <p:grpSpPr bwMode="auto">
          <a:xfrm>
            <a:off x="8989320" y="1719727"/>
            <a:ext cx="1027114" cy="1046161"/>
            <a:chOff x="4274" y="1253"/>
            <a:chExt cx="647" cy="659"/>
          </a:xfrm>
        </p:grpSpPr>
        <p:grpSp>
          <p:nvGrpSpPr>
            <p:cNvPr id="36" name="Group 313"/>
            <p:cNvGrpSpPr>
              <a:grpSpLocks/>
            </p:cNvGrpSpPr>
            <p:nvPr/>
          </p:nvGrpSpPr>
          <p:grpSpPr bwMode="auto">
            <a:xfrm>
              <a:off x="4444" y="1253"/>
              <a:ext cx="477" cy="437"/>
              <a:chOff x="2727" y="3277"/>
              <a:chExt cx="477" cy="437"/>
            </a:xfrm>
          </p:grpSpPr>
          <p:grpSp>
            <p:nvGrpSpPr>
              <p:cNvPr id="62" name="Group 314"/>
              <p:cNvGrpSpPr>
                <a:grpSpLocks/>
              </p:cNvGrpSpPr>
              <p:nvPr/>
            </p:nvGrpSpPr>
            <p:grpSpPr bwMode="auto">
              <a:xfrm>
                <a:off x="2731" y="3536"/>
                <a:ext cx="473" cy="178"/>
                <a:chOff x="2727" y="3277"/>
                <a:chExt cx="473" cy="178"/>
              </a:xfrm>
            </p:grpSpPr>
            <p:sp>
              <p:nvSpPr>
                <p:cNvPr id="71" name="AutoShape 315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72" name="AutoShape 316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73" name="AutoShape 317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63" name="Group 318"/>
              <p:cNvGrpSpPr>
                <a:grpSpLocks/>
              </p:cNvGrpSpPr>
              <p:nvPr/>
            </p:nvGrpSpPr>
            <p:grpSpPr bwMode="auto">
              <a:xfrm>
                <a:off x="2730" y="3412"/>
                <a:ext cx="473" cy="178"/>
                <a:chOff x="2727" y="3277"/>
                <a:chExt cx="473" cy="178"/>
              </a:xfrm>
            </p:grpSpPr>
            <p:sp>
              <p:nvSpPr>
                <p:cNvPr id="68" name="AutoShape 319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69" name="AutoShape 320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70" name="AutoShape 321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64" name="Group 322"/>
              <p:cNvGrpSpPr>
                <a:grpSpLocks/>
              </p:cNvGrpSpPr>
              <p:nvPr/>
            </p:nvGrpSpPr>
            <p:grpSpPr bwMode="auto">
              <a:xfrm>
                <a:off x="2727" y="3277"/>
                <a:ext cx="473" cy="178"/>
                <a:chOff x="2727" y="3277"/>
                <a:chExt cx="473" cy="178"/>
              </a:xfrm>
            </p:grpSpPr>
            <p:sp>
              <p:nvSpPr>
                <p:cNvPr id="65" name="AutoShape 323"/>
                <p:cNvSpPr>
                  <a:spLocks noChangeArrowheads="1"/>
                </p:cNvSpPr>
                <p:nvPr/>
              </p:nvSpPr>
              <p:spPr bwMode="auto">
                <a:xfrm>
                  <a:off x="2727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66" name="AutoShape 324"/>
                <p:cNvSpPr>
                  <a:spLocks noChangeArrowheads="1"/>
                </p:cNvSpPr>
                <p:nvPr/>
              </p:nvSpPr>
              <p:spPr bwMode="auto">
                <a:xfrm>
                  <a:off x="2872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67" name="AutoShape 325"/>
                <p:cNvSpPr>
                  <a:spLocks noChangeArrowheads="1"/>
                </p:cNvSpPr>
                <p:nvPr/>
              </p:nvSpPr>
              <p:spPr bwMode="auto">
                <a:xfrm>
                  <a:off x="3016" y="327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</p:grpSp>
        <p:grpSp>
          <p:nvGrpSpPr>
            <p:cNvPr id="37" name="Group 400"/>
            <p:cNvGrpSpPr>
              <a:grpSpLocks/>
            </p:cNvGrpSpPr>
            <p:nvPr/>
          </p:nvGrpSpPr>
          <p:grpSpPr bwMode="auto">
            <a:xfrm>
              <a:off x="4331" y="1501"/>
              <a:ext cx="185" cy="302"/>
              <a:chOff x="4192" y="2922"/>
              <a:chExt cx="185" cy="302"/>
            </a:xfrm>
          </p:grpSpPr>
          <p:sp>
            <p:nvSpPr>
              <p:cNvPr id="60" name="AutoShape 343"/>
              <p:cNvSpPr>
                <a:spLocks noChangeArrowheads="1"/>
              </p:cNvSpPr>
              <p:nvPr/>
            </p:nvSpPr>
            <p:spPr bwMode="auto">
              <a:xfrm>
                <a:off x="4193" y="3046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61" name="AutoShape 347"/>
              <p:cNvSpPr>
                <a:spLocks noChangeArrowheads="1"/>
              </p:cNvSpPr>
              <p:nvPr/>
            </p:nvSpPr>
            <p:spPr bwMode="auto">
              <a:xfrm>
                <a:off x="4192" y="2922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grpSp>
          <p:nvGrpSpPr>
            <p:cNvPr id="38" name="Group 358"/>
            <p:cNvGrpSpPr>
              <a:grpSpLocks/>
            </p:cNvGrpSpPr>
            <p:nvPr/>
          </p:nvGrpSpPr>
          <p:grpSpPr bwMode="auto">
            <a:xfrm>
              <a:off x="4489" y="1559"/>
              <a:ext cx="369" cy="342"/>
              <a:chOff x="4657" y="2667"/>
              <a:chExt cx="369" cy="342"/>
            </a:xfrm>
          </p:grpSpPr>
          <p:grpSp>
            <p:nvGrpSpPr>
              <p:cNvPr id="50" name="Group 352"/>
              <p:cNvGrpSpPr>
                <a:grpSpLocks/>
              </p:cNvGrpSpPr>
              <p:nvPr/>
            </p:nvGrpSpPr>
            <p:grpSpPr bwMode="auto">
              <a:xfrm>
                <a:off x="4697" y="2667"/>
                <a:ext cx="329" cy="302"/>
                <a:chOff x="4697" y="2667"/>
                <a:chExt cx="329" cy="302"/>
              </a:xfrm>
            </p:grpSpPr>
            <p:sp>
              <p:nvSpPr>
                <p:cNvPr id="56" name="AutoShape 329"/>
                <p:cNvSpPr>
                  <a:spLocks noChangeArrowheads="1"/>
                </p:cNvSpPr>
                <p:nvPr/>
              </p:nvSpPr>
              <p:spPr bwMode="auto">
                <a:xfrm>
                  <a:off x="4698" y="2791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57" name="AutoShape 330"/>
                <p:cNvSpPr>
                  <a:spLocks noChangeArrowheads="1"/>
                </p:cNvSpPr>
                <p:nvPr/>
              </p:nvSpPr>
              <p:spPr bwMode="auto">
                <a:xfrm>
                  <a:off x="4842" y="2791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58" name="AutoShape 333"/>
                <p:cNvSpPr>
                  <a:spLocks noChangeArrowheads="1"/>
                </p:cNvSpPr>
                <p:nvPr/>
              </p:nvSpPr>
              <p:spPr bwMode="auto">
                <a:xfrm>
                  <a:off x="4697" y="266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59" name="AutoShape 334"/>
                <p:cNvSpPr>
                  <a:spLocks noChangeArrowheads="1"/>
                </p:cNvSpPr>
                <p:nvPr/>
              </p:nvSpPr>
              <p:spPr bwMode="auto">
                <a:xfrm>
                  <a:off x="4841" y="266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  <p:grpSp>
            <p:nvGrpSpPr>
              <p:cNvPr id="51" name="Group 353"/>
              <p:cNvGrpSpPr>
                <a:grpSpLocks/>
              </p:cNvGrpSpPr>
              <p:nvPr/>
            </p:nvGrpSpPr>
            <p:grpSpPr bwMode="auto">
              <a:xfrm>
                <a:off x="4657" y="2707"/>
                <a:ext cx="329" cy="302"/>
                <a:chOff x="4697" y="2667"/>
                <a:chExt cx="329" cy="302"/>
              </a:xfrm>
            </p:grpSpPr>
            <p:sp>
              <p:nvSpPr>
                <p:cNvPr id="52" name="AutoShape 354"/>
                <p:cNvSpPr>
                  <a:spLocks noChangeArrowheads="1"/>
                </p:cNvSpPr>
                <p:nvPr/>
              </p:nvSpPr>
              <p:spPr bwMode="auto">
                <a:xfrm>
                  <a:off x="4698" y="2791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53" name="AutoShape 355"/>
                <p:cNvSpPr>
                  <a:spLocks noChangeArrowheads="1"/>
                </p:cNvSpPr>
                <p:nvPr/>
              </p:nvSpPr>
              <p:spPr bwMode="auto">
                <a:xfrm>
                  <a:off x="4842" y="2791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54" name="AutoShape 356"/>
                <p:cNvSpPr>
                  <a:spLocks noChangeArrowheads="1"/>
                </p:cNvSpPr>
                <p:nvPr/>
              </p:nvSpPr>
              <p:spPr bwMode="auto">
                <a:xfrm>
                  <a:off x="4697" y="266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  <p:sp>
              <p:nvSpPr>
                <p:cNvPr id="55" name="AutoShape 357"/>
                <p:cNvSpPr>
                  <a:spLocks noChangeArrowheads="1"/>
                </p:cNvSpPr>
                <p:nvPr/>
              </p:nvSpPr>
              <p:spPr bwMode="auto">
                <a:xfrm>
                  <a:off x="4841" y="2667"/>
                  <a:ext cx="184" cy="178"/>
                </a:xfrm>
                <a:prstGeom prst="cube">
                  <a:avLst>
                    <a:gd name="adj" fmla="val 25000"/>
                  </a:avLst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defPPr>
                    <a:defRPr lang="fr-FR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600" kern="1200">
                      <a:solidFill>
                        <a:schemeClr val="tx1"/>
                      </a:solidFill>
                      <a:latin typeface="Arial" charset="0"/>
                      <a:ea typeface="+mn-ea"/>
                      <a:cs typeface="+mn-cs"/>
                    </a:defRPr>
                  </a:lvl9pPr>
                </a:lstStyle>
                <a:p>
                  <a:endParaRPr lang="fr-FR"/>
                </a:p>
              </p:txBody>
            </p:sp>
          </p:grpSp>
        </p:grpSp>
        <p:grpSp>
          <p:nvGrpSpPr>
            <p:cNvPr id="39" name="Group 348"/>
            <p:cNvGrpSpPr>
              <a:grpSpLocks/>
            </p:cNvGrpSpPr>
            <p:nvPr/>
          </p:nvGrpSpPr>
          <p:grpSpPr bwMode="auto">
            <a:xfrm>
              <a:off x="4373" y="1339"/>
              <a:ext cx="473" cy="178"/>
              <a:chOff x="2727" y="3277"/>
              <a:chExt cx="473" cy="178"/>
            </a:xfrm>
          </p:grpSpPr>
          <p:sp>
            <p:nvSpPr>
              <p:cNvPr id="47" name="AutoShape 349"/>
              <p:cNvSpPr>
                <a:spLocks noChangeArrowheads="1"/>
              </p:cNvSpPr>
              <p:nvPr/>
            </p:nvSpPr>
            <p:spPr bwMode="auto">
              <a:xfrm>
                <a:off x="2727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48" name="AutoShape 350"/>
              <p:cNvSpPr>
                <a:spLocks noChangeArrowheads="1"/>
              </p:cNvSpPr>
              <p:nvPr/>
            </p:nvSpPr>
            <p:spPr bwMode="auto">
              <a:xfrm>
                <a:off x="2872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49" name="AutoShape 351"/>
              <p:cNvSpPr>
                <a:spLocks noChangeArrowheads="1"/>
              </p:cNvSpPr>
              <p:nvPr/>
            </p:nvSpPr>
            <p:spPr bwMode="auto">
              <a:xfrm>
                <a:off x="3016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grpSp>
          <p:nvGrpSpPr>
            <p:cNvPr id="40" name="Group 399"/>
            <p:cNvGrpSpPr>
              <a:grpSpLocks/>
            </p:cNvGrpSpPr>
            <p:nvPr/>
          </p:nvGrpSpPr>
          <p:grpSpPr bwMode="auto">
            <a:xfrm>
              <a:off x="4274" y="1610"/>
              <a:ext cx="185" cy="302"/>
              <a:chOff x="4048" y="2922"/>
              <a:chExt cx="185" cy="302"/>
            </a:xfrm>
          </p:grpSpPr>
          <p:sp>
            <p:nvSpPr>
              <p:cNvPr id="45" name="AutoShape 342"/>
              <p:cNvSpPr>
                <a:spLocks noChangeArrowheads="1"/>
              </p:cNvSpPr>
              <p:nvPr/>
            </p:nvSpPr>
            <p:spPr bwMode="auto">
              <a:xfrm>
                <a:off x="4049" y="3046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46" name="AutoShape 346"/>
              <p:cNvSpPr>
                <a:spLocks noChangeArrowheads="1"/>
              </p:cNvSpPr>
              <p:nvPr/>
            </p:nvSpPr>
            <p:spPr bwMode="auto">
              <a:xfrm>
                <a:off x="4048" y="2922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grpSp>
          <p:nvGrpSpPr>
            <p:cNvPr id="41" name="Group 335"/>
            <p:cNvGrpSpPr>
              <a:grpSpLocks/>
            </p:cNvGrpSpPr>
            <p:nvPr/>
          </p:nvGrpSpPr>
          <p:grpSpPr bwMode="auto">
            <a:xfrm>
              <a:off x="4295" y="1433"/>
              <a:ext cx="473" cy="178"/>
              <a:chOff x="2727" y="3277"/>
              <a:chExt cx="473" cy="178"/>
            </a:xfrm>
          </p:grpSpPr>
          <p:sp>
            <p:nvSpPr>
              <p:cNvPr id="42" name="AutoShape 336"/>
              <p:cNvSpPr>
                <a:spLocks noChangeArrowheads="1"/>
              </p:cNvSpPr>
              <p:nvPr/>
            </p:nvSpPr>
            <p:spPr bwMode="auto">
              <a:xfrm>
                <a:off x="2727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43" name="AutoShape 337"/>
              <p:cNvSpPr>
                <a:spLocks noChangeArrowheads="1"/>
              </p:cNvSpPr>
              <p:nvPr/>
            </p:nvSpPr>
            <p:spPr bwMode="auto">
              <a:xfrm>
                <a:off x="2872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44" name="AutoShape 338"/>
              <p:cNvSpPr>
                <a:spLocks noChangeArrowheads="1"/>
              </p:cNvSpPr>
              <p:nvPr/>
            </p:nvSpPr>
            <p:spPr bwMode="auto">
              <a:xfrm>
                <a:off x="3016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</p:grpSp>
      <p:grpSp>
        <p:nvGrpSpPr>
          <p:cNvPr id="9" name="Group 415"/>
          <p:cNvGrpSpPr>
            <a:grpSpLocks/>
          </p:cNvGrpSpPr>
          <p:nvPr/>
        </p:nvGrpSpPr>
        <p:grpSpPr bwMode="auto">
          <a:xfrm>
            <a:off x="9027421" y="3756500"/>
            <a:ext cx="1176339" cy="484189"/>
            <a:chOff x="4356" y="2536"/>
            <a:chExt cx="741" cy="305"/>
          </a:xfrm>
        </p:grpSpPr>
        <p:grpSp>
          <p:nvGrpSpPr>
            <p:cNvPr id="22" name="Group 401"/>
            <p:cNvGrpSpPr>
              <a:grpSpLocks/>
            </p:cNvGrpSpPr>
            <p:nvPr/>
          </p:nvGrpSpPr>
          <p:grpSpPr bwMode="auto">
            <a:xfrm>
              <a:off x="4356" y="2675"/>
              <a:ext cx="473" cy="163"/>
              <a:chOff x="2727" y="3277"/>
              <a:chExt cx="473" cy="178"/>
            </a:xfrm>
          </p:grpSpPr>
          <p:sp>
            <p:nvSpPr>
              <p:cNvPr id="33" name="AutoShape 402"/>
              <p:cNvSpPr>
                <a:spLocks noChangeArrowheads="1"/>
              </p:cNvSpPr>
              <p:nvPr/>
            </p:nvSpPr>
            <p:spPr bwMode="auto">
              <a:xfrm>
                <a:off x="2727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34" name="AutoShape 403"/>
              <p:cNvSpPr>
                <a:spLocks noChangeArrowheads="1"/>
              </p:cNvSpPr>
              <p:nvPr/>
            </p:nvSpPr>
            <p:spPr bwMode="auto">
              <a:xfrm>
                <a:off x="2872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35" name="AutoShape 404"/>
              <p:cNvSpPr>
                <a:spLocks noChangeArrowheads="1"/>
              </p:cNvSpPr>
              <p:nvPr/>
            </p:nvSpPr>
            <p:spPr bwMode="auto">
              <a:xfrm>
                <a:off x="3016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grpSp>
          <p:nvGrpSpPr>
            <p:cNvPr id="23" name="Group 405"/>
            <p:cNvGrpSpPr>
              <a:grpSpLocks/>
            </p:cNvGrpSpPr>
            <p:nvPr/>
          </p:nvGrpSpPr>
          <p:grpSpPr bwMode="auto">
            <a:xfrm>
              <a:off x="4356" y="2536"/>
              <a:ext cx="473" cy="178"/>
              <a:chOff x="2727" y="3277"/>
              <a:chExt cx="473" cy="178"/>
            </a:xfrm>
          </p:grpSpPr>
          <p:sp>
            <p:nvSpPr>
              <p:cNvPr id="30" name="AutoShape 406"/>
              <p:cNvSpPr>
                <a:spLocks noChangeArrowheads="1"/>
              </p:cNvSpPr>
              <p:nvPr/>
            </p:nvSpPr>
            <p:spPr bwMode="auto">
              <a:xfrm>
                <a:off x="2727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31" name="AutoShape 407"/>
              <p:cNvSpPr>
                <a:spLocks noChangeArrowheads="1"/>
              </p:cNvSpPr>
              <p:nvPr/>
            </p:nvSpPr>
            <p:spPr bwMode="auto">
              <a:xfrm>
                <a:off x="2872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32" name="AutoShape 408"/>
              <p:cNvSpPr>
                <a:spLocks noChangeArrowheads="1"/>
              </p:cNvSpPr>
              <p:nvPr/>
            </p:nvSpPr>
            <p:spPr bwMode="auto">
              <a:xfrm>
                <a:off x="3016" y="3277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grpSp>
          <p:nvGrpSpPr>
            <p:cNvPr id="24" name="Group 409"/>
            <p:cNvGrpSpPr>
              <a:grpSpLocks/>
            </p:cNvGrpSpPr>
            <p:nvPr/>
          </p:nvGrpSpPr>
          <p:grpSpPr bwMode="auto">
            <a:xfrm>
              <a:off x="4781" y="2539"/>
              <a:ext cx="185" cy="302"/>
              <a:chOff x="4048" y="2922"/>
              <a:chExt cx="185" cy="302"/>
            </a:xfrm>
          </p:grpSpPr>
          <p:sp>
            <p:nvSpPr>
              <p:cNvPr id="28" name="AutoShape 410"/>
              <p:cNvSpPr>
                <a:spLocks noChangeArrowheads="1"/>
              </p:cNvSpPr>
              <p:nvPr/>
            </p:nvSpPr>
            <p:spPr bwMode="auto">
              <a:xfrm>
                <a:off x="4049" y="3046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29" name="AutoShape 411"/>
              <p:cNvSpPr>
                <a:spLocks noChangeArrowheads="1"/>
              </p:cNvSpPr>
              <p:nvPr/>
            </p:nvSpPr>
            <p:spPr bwMode="auto">
              <a:xfrm>
                <a:off x="4048" y="2922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  <p:grpSp>
          <p:nvGrpSpPr>
            <p:cNvPr id="25" name="Group 412"/>
            <p:cNvGrpSpPr>
              <a:grpSpLocks/>
            </p:cNvGrpSpPr>
            <p:nvPr/>
          </p:nvGrpSpPr>
          <p:grpSpPr bwMode="auto">
            <a:xfrm>
              <a:off x="4912" y="2539"/>
              <a:ext cx="185" cy="302"/>
              <a:chOff x="4048" y="2922"/>
              <a:chExt cx="185" cy="302"/>
            </a:xfrm>
          </p:grpSpPr>
          <p:sp>
            <p:nvSpPr>
              <p:cNvPr id="26" name="AutoShape 413"/>
              <p:cNvSpPr>
                <a:spLocks noChangeArrowheads="1"/>
              </p:cNvSpPr>
              <p:nvPr/>
            </p:nvSpPr>
            <p:spPr bwMode="auto">
              <a:xfrm>
                <a:off x="4049" y="3046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  <p:sp>
            <p:nvSpPr>
              <p:cNvPr id="27" name="AutoShape 414"/>
              <p:cNvSpPr>
                <a:spLocks noChangeArrowheads="1"/>
              </p:cNvSpPr>
              <p:nvPr/>
            </p:nvSpPr>
            <p:spPr bwMode="auto">
              <a:xfrm>
                <a:off x="4048" y="2922"/>
                <a:ext cx="184" cy="178"/>
              </a:xfrm>
              <a:prstGeom prst="cube">
                <a:avLst>
                  <a:gd name="adj" fmla="val 25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defPPr>
                  <a:defRPr lang="fr-FR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600" kern="1200">
                    <a:solidFill>
                      <a:schemeClr val="tx1"/>
                    </a:solidFill>
                    <a:latin typeface="Arial" charset="0"/>
                    <a:ea typeface="+mn-ea"/>
                    <a:cs typeface="+mn-cs"/>
                  </a:defRPr>
                </a:lvl9pPr>
              </a:lstStyle>
              <a:p>
                <a:endParaRPr lang="fr-FR"/>
              </a:p>
            </p:txBody>
          </p:sp>
        </p:grpSp>
      </p:grpSp>
      <p:sp>
        <p:nvSpPr>
          <p:cNvPr id="10" name="Text Box 417"/>
          <p:cNvSpPr txBox="1">
            <a:spLocks noChangeArrowheads="1"/>
          </p:cNvSpPr>
          <p:nvPr/>
        </p:nvSpPr>
        <p:spPr bwMode="auto">
          <a:xfrm>
            <a:off x="2552002" y="4847104"/>
            <a:ext cx="1608137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Bases de production</a:t>
            </a:r>
          </a:p>
        </p:txBody>
      </p:sp>
      <p:sp>
        <p:nvSpPr>
          <p:cNvPr id="11" name="Text Box 418"/>
          <p:cNvSpPr txBox="1">
            <a:spLocks noChangeArrowheads="1"/>
          </p:cNvSpPr>
          <p:nvPr/>
        </p:nvSpPr>
        <p:spPr bwMode="auto">
          <a:xfrm>
            <a:off x="4982464" y="4812179"/>
            <a:ext cx="18049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Data warehouse</a:t>
            </a:r>
          </a:p>
        </p:txBody>
      </p:sp>
      <p:sp>
        <p:nvSpPr>
          <p:cNvPr id="12" name="Text Box 419"/>
          <p:cNvSpPr txBox="1">
            <a:spLocks noChangeArrowheads="1"/>
          </p:cNvSpPr>
          <p:nvPr/>
        </p:nvSpPr>
        <p:spPr bwMode="auto">
          <a:xfrm>
            <a:off x="7100189" y="4824879"/>
            <a:ext cx="177006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Base multi -</a:t>
            </a:r>
            <a:br>
              <a:rPr lang="fr-FR" sz="1800"/>
            </a:br>
            <a:r>
              <a:rPr lang="fr-FR" sz="1800"/>
              <a:t>dimensionnelle</a:t>
            </a:r>
          </a:p>
        </p:txBody>
      </p:sp>
      <p:sp>
        <p:nvSpPr>
          <p:cNvPr id="13" name="Text Box 420"/>
          <p:cNvSpPr txBox="1">
            <a:spLocks noChangeArrowheads="1"/>
          </p:cNvSpPr>
          <p:nvPr/>
        </p:nvSpPr>
        <p:spPr bwMode="auto">
          <a:xfrm>
            <a:off x="8906764" y="4799479"/>
            <a:ext cx="2246313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Prédiction / </a:t>
            </a:r>
            <a:br>
              <a:rPr lang="fr-FR" sz="1800"/>
            </a:br>
            <a:r>
              <a:rPr lang="fr-FR" sz="1800"/>
              <a:t>simulation</a:t>
            </a:r>
          </a:p>
        </p:txBody>
      </p:sp>
      <p:cxnSp>
        <p:nvCxnSpPr>
          <p:cNvPr id="14" name="AutoShape 422"/>
          <p:cNvCxnSpPr>
            <a:cxnSpLocks noChangeShapeType="1"/>
            <a:stCxn id="3" idx="4"/>
            <a:endCxn id="6" idx="2"/>
          </p:cNvCxnSpPr>
          <p:nvPr/>
        </p:nvCxnSpPr>
        <p:spPr bwMode="auto">
          <a:xfrm>
            <a:off x="3626739" y="2051516"/>
            <a:ext cx="1377950" cy="1144588"/>
          </a:xfrm>
          <a:prstGeom prst="curvedConnector3">
            <a:avLst>
              <a:gd name="adj1" fmla="val 49884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5" name="AutoShape 423"/>
          <p:cNvCxnSpPr>
            <a:cxnSpLocks noChangeShapeType="1"/>
            <a:stCxn id="4" idx="4"/>
            <a:endCxn id="6" idx="2"/>
          </p:cNvCxnSpPr>
          <p:nvPr/>
        </p:nvCxnSpPr>
        <p:spPr bwMode="auto">
          <a:xfrm>
            <a:off x="3633089" y="3169116"/>
            <a:ext cx="1371600" cy="26988"/>
          </a:xfrm>
          <a:prstGeom prst="curvedConnector3">
            <a:avLst>
              <a:gd name="adj1" fmla="val 4988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6" name="AutoShape 424"/>
          <p:cNvCxnSpPr>
            <a:cxnSpLocks noChangeShapeType="1"/>
            <a:stCxn id="5" idx="4"/>
            <a:endCxn id="6" idx="2"/>
          </p:cNvCxnSpPr>
          <p:nvPr/>
        </p:nvCxnSpPr>
        <p:spPr bwMode="auto">
          <a:xfrm flipV="1">
            <a:off x="3593402" y="3196104"/>
            <a:ext cx="1411287" cy="1123950"/>
          </a:xfrm>
          <a:prstGeom prst="curvedConnector3">
            <a:avLst>
              <a:gd name="adj1" fmla="val 49944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7" name="AutoShape 427"/>
          <p:cNvCxnSpPr>
            <a:cxnSpLocks noChangeShapeType="1"/>
            <a:stCxn id="109" idx="5"/>
            <a:endCxn id="46" idx="2"/>
          </p:cNvCxnSpPr>
          <p:nvPr/>
        </p:nvCxnSpPr>
        <p:spPr bwMode="auto">
          <a:xfrm flipV="1">
            <a:off x="8282877" y="2462679"/>
            <a:ext cx="706437" cy="6000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8" name="AutoShape 428"/>
          <p:cNvCxnSpPr>
            <a:cxnSpLocks noChangeShapeType="1"/>
            <a:stCxn id="109" idx="5"/>
            <a:endCxn id="30" idx="2"/>
          </p:cNvCxnSpPr>
          <p:nvPr/>
        </p:nvCxnSpPr>
        <p:spPr bwMode="auto">
          <a:xfrm>
            <a:off x="8282877" y="3062754"/>
            <a:ext cx="744537" cy="86995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9" name="Text Box 430"/>
          <p:cNvSpPr txBox="1">
            <a:spLocks noChangeArrowheads="1"/>
          </p:cNvSpPr>
          <p:nvPr/>
        </p:nvSpPr>
        <p:spPr bwMode="auto">
          <a:xfrm>
            <a:off x="10237089" y="2751604"/>
            <a:ext cx="11779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Prise de décision</a:t>
            </a:r>
          </a:p>
        </p:txBody>
      </p:sp>
      <p:sp>
        <p:nvSpPr>
          <p:cNvPr id="20" name="Line 431"/>
          <p:cNvSpPr>
            <a:spLocks noChangeShapeType="1"/>
          </p:cNvSpPr>
          <p:nvPr/>
        </p:nvSpPr>
        <p:spPr bwMode="auto">
          <a:xfrm>
            <a:off x="9973564" y="3086566"/>
            <a:ext cx="2317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21" name="Line 432"/>
          <p:cNvSpPr>
            <a:spLocks noChangeShapeType="1"/>
          </p:cNvSpPr>
          <p:nvPr/>
        </p:nvSpPr>
        <p:spPr bwMode="auto">
          <a:xfrm>
            <a:off x="6677914" y="3202454"/>
            <a:ext cx="6572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5472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Problèmes posées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855303" y="1537539"/>
            <a:ext cx="9248125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fr-FR" dirty="0" smtClean="0"/>
              <a:t> </a:t>
            </a:r>
            <a:r>
              <a:rPr lang="fr-FR" b="1" dirty="0" smtClean="0"/>
              <a:t>Sources de données multiples </a:t>
            </a:r>
            <a:r>
              <a:rPr lang="fr-FR" dirty="0" smtClean="0"/>
              <a:t>(essentiellement bases de production, </a:t>
            </a:r>
            <a:r>
              <a:rPr lang="fr-FR" dirty="0" err="1" smtClean="0"/>
              <a:t>ERP:Entreprise</a:t>
            </a:r>
            <a:r>
              <a:rPr lang="fr-FR" dirty="0" smtClean="0"/>
              <a:t> Resource Planning, CRM: Customer Relationship Management, Factures, Fichiers Excel…)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fr-FR" dirty="0" smtClean="0"/>
              <a:t>Sources non </a:t>
            </a:r>
            <a:r>
              <a:rPr lang="fr-FR" b="1" dirty="0" smtClean="0"/>
              <a:t>compatibles </a:t>
            </a:r>
            <a:r>
              <a:rPr lang="fr-FR" dirty="0" smtClean="0"/>
              <a:t>entre eux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fr-FR" dirty="0" smtClean="0"/>
              <a:t>Sources efficaces pour les fonctions sur lesquelles elles sont spécialisées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fr-FR" dirty="0" smtClean="0"/>
              <a:t>Leur objectif principale c’est </a:t>
            </a:r>
            <a:r>
              <a:rPr lang="fr-FR" b="1" dirty="0" smtClean="0"/>
              <a:t>la conservation de l’information </a:t>
            </a:r>
            <a:r>
              <a:rPr lang="fr-FR" dirty="0" smtClean="0"/>
              <a:t>-&gt; peu structurés pour l’analyse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fr-FR" dirty="0" smtClean="0"/>
              <a:t>Focalisation sur les fonctions critiques de l’entreprise: Comptabilité, RH, </a:t>
            </a:r>
          </a:p>
          <a:p>
            <a:pPr algn="just">
              <a:lnSpc>
                <a:spcPct val="150000"/>
              </a:lnSpc>
            </a:pPr>
            <a:r>
              <a:rPr lang="fr-FR" dirty="0" smtClean="0"/>
              <a:t>-&gt; Doit servir avec </a:t>
            </a:r>
            <a:r>
              <a:rPr lang="fr-FR" b="1" dirty="0" smtClean="0"/>
              <a:t>un temps de réponse rapide</a:t>
            </a:r>
            <a:endParaRPr lang="fr-FR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Solution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632857" y="1457404"/>
            <a:ext cx="1019834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 smtClean="0"/>
              <a:t>Objectif du </a:t>
            </a:r>
            <a:r>
              <a:rPr lang="fr-FR" b="1" dirty="0" err="1" smtClean="0"/>
              <a:t>datawarehouse</a:t>
            </a:r>
            <a:r>
              <a:rPr lang="fr-FR" b="1" dirty="0" smtClean="0"/>
              <a:t>: 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Agréger et valoriser les données provenant de différentes sources.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Permettre à l’utilisateur d’y accéder d’une manière simple et ergonomique.</a:t>
            </a:r>
          </a:p>
          <a:p>
            <a:pPr>
              <a:lnSpc>
                <a:spcPct val="150000"/>
              </a:lnSpc>
            </a:pPr>
            <a:endParaRPr lang="fr-FR" dirty="0" smtClean="0"/>
          </a:p>
          <a:p>
            <a:pPr>
              <a:lnSpc>
                <a:spcPct val="150000"/>
              </a:lnSpc>
            </a:pPr>
            <a:r>
              <a:rPr lang="fr-FR" b="1" dirty="0" smtClean="0"/>
              <a:t>Définition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Selon Bill </a:t>
            </a:r>
            <a:r>
              <a:rPr lang="fr-FR" dirty="0" err="1" smtClean="0"/>
              <a:t>Inmon</a:t>
            </a:r>
            <a:r>
              <a:rPr lang="fr-FR" dirty="0" smtClean="0"/>
              <a:t> père de </a:t>
            </a:r>
            <a:r>
              <a:rPr lang="fr-FR" dirty="0" err="1" smtClean="0"/>
              <a:t>datawarehouse</a:t>
            </a:r>
            <a:endParaRPr lang="fr-FR" dirty="0" smtClean="0"/>
          </a:p>
          <a:p>
            <a:pPr>
              <a:lnSpc>
                <a:spcPct val="150000"/>
              </a:lnSpc>
            </a:pPr>
            <a:r>
              <a:rPr lang="fr-FR" i="1" dirty="0" smtClean="0"/>
              <a:t>« Le </a:t>
            </a:r>
            <a:r>
              <a:rPr lang="fr-FR" i="1" dirty="0" err="1" smtClean="0"/>
              <a:t>datawarehouse</a:t>
            </a:r>
            <a:r>
              <a:rPr lang="fr-FR" i="1" dirty="0" smtClean="0"/>
              <a:t> est une collection de données </a:t>
            </a:r>
            <a:r>
              <a:rPr lang="fr-FR" i="1" u="sng" dirty="0" smtClean="0"/>
              <a:t>orientées sujet</a:t>
            </a:r>
            <a:r>
              <a:rPr lang="fr-FR" i="1" dirty="0" smtClean="0"/>
              <a:t>, </a:t>
            </a:r>
            <a:r>
              <a:rPr lang="fr-FR" i="1" u="sng" dirty="0" smtClean="0"/>
              <a:t>intégrées</a:t>
            </a:r>
            <a:r>
              <a:rPr lang="fr-FR" i="1" dirty="0" smtClean="0"/>
              <a:t>, </a:t>
            </a:r>
            <a:r>
              <a:rPr lang="fr-FR" i="1" u="sng" dirty="0" smtClean="0"/>
              <a:t>non volatiles </a:t>
            </a:r>
            <a:r>
              <a:rPr lang="fr-FR" i="1" dirty="0" smtClean="0"/>
              <a:t>et </a:t>
            </a:r>
            <a:r>
              <a:rPr lang="fr-FR" i="1" u="sng" dirty="0" smtClean="0"/>
              <a:t>historiées</a:t>
            </a:r>
            <a:r>
              <a:rPr lang="fr-FR" i="1" dirty="0" smtClean="0"/>
              <a:t>,  organisées pour le support d’un processus d’aide à la décision. »</a:t>
            </a:r>
            <a:endParaRPr lang="fr-FR" i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Caractéristiques des données dans un DW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052918" y="1882589"/>
            <a:ext cx="9466730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b="1" dirty="0" smtClean="0"/>
              <a:t>Orientées sujet: </a:t>
            </a:r>
            <a:r>
              <a:rPr lang="fr-FR" dirty="0" smtClean="0"/>
              <a:t>Les données sont organisées par thème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fr-FR" b="1" dirty="0" smtClean="0"/>
              <a:t>Intégrée:</a:t>
            </a:r>
            <a:r>
              <a:rPr lang="fr-FR" dirty="0" smtClean="0"/>
              <a:t> Les données doivent être mises en forme et unifiées afin d’assurer la cohérence</a:t>
            </a:r>
          </a:p>
          <a:p>
            <a:pPr marL="342900" indent="-342900">
              <a:lnSpc>
                <a:spcPct val="150000"/>
              </a:lnSpc>
            </a:pPr>
            <a:r>
              <a:rPr lang="fr-FR" dirty="0" smtClean="0"/>
              <a:t>      Phase très complexe, représente une charge importante dans la mise en place d’un </a:t>
            </a:r>
            <a:r>
              <a:rPr lang="fr-FR" dirty="0" err="1" smtClean="0"/>
              <a:t>datawarehouse</a:t>
            </a:r>
            <a:endParaRPr lang="fr-FR" dirty="0" smtClean="0"/>
          </a:p>
          <a:p>
            <a:pPr marL="342900" indent="-342900">
              <a:lnSpc>
                <a:spcPct val="150000"/>
              </a:lnSpc>
            </a:pPr>
            <a:r>
              <a:rPr lang="fr-FR" b="1" dirty="0" smtClean="0"/>
              <a:t>3. Non volatile: </a:t>
            </a:r>
            <a:r>
              <a:rPr lang="fr-FR" dirty="0" smtClean="0"/>
              <a:t>Le DW va conserver la traçabilité des informations et des décisions prises. Les données ne sont ni modifiées ni supprimées.</a:t>
            </a:r>
          </a:p>
          <a:p>
            <a:pPr marL="342900" indent="-342900">
              <a:lnSpc>
                <a:spcPct val="150000"/>
              </a:lnSpc>
            </a:pPr>
            <a:r>
              <a:rPr lang="fr-FR" b="1" dirty="0" smtClean="0"/>
              <a:t>4. Historiées: </a:t>
            </a:r>
            <a:r>
              <a:rPr lang="fr-FR" dirty="0" smtClean="0"/>
              <a:t>Un référentiel de temps doit être mise en place afin de pouvoir identifier chaque donnée dans le temps</a:t>
            </a: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>
            <a:spLocks noGrp="1" noChangeArrowheads="1"/>
          </p:cNvSpPr>
          <p:nvPr/>
        </p:nvSpPr>
        <p:spPr bwMode="auto">
          <a:xfrm>
            <a:off x="1684105" y="275665"/>
            <a:ext cx="850106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fr-FR" dirty="0" smtClean="0"/>
              <a:t>Architecture générale</a:t>
            </a:r>
          </a:p>
        </p:txBody>
      </p:sp>
      <p:sp>
        <p:nvSpPr>
          <p:cNvPr id="53" name="Espace réservé du numéro de diapositive 4"/>
          <p:cNvSpPr>
            <a:spLocks noGrp="1"/>
          </p:cNvSpPr>
          <p:nvPr/>
        </p:nvSpPr>
        <p:spPr bwMode="auto">
          <a:xfrm>
            <a:off x="9013171" y="6177479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fr-FR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10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fld id="{85E06481-5BF7-4206-9883-A1B998975664}" type="slidenum">
              <a:rPr lang="fr-FR" smtClean="0"/>
              <a:pPr/>
              <a:t>9</a:t>
            </a:fld>
            <a:endParaRPr lang="fr-FR" smtClean="0"/>
          </a:p>
        </p:txBody>
      </p:sp>
      <p:sp>
        <p:nvSpPr>
          <p:cNvPr id="54" name="AutoShape 47"/>
          <p:cNvSpPr>
            <a:spLocks noChangeArrowheads="1"/>
          </p:cNvSpPr>
          <p:nvPr/>
        </p:nvSpPr>
        <p:spPr bwMode="auto">
          <a:xfrm>
            <a:off x="2701271" y="2397642"/>
            <a:ext cx="717550" cy="2478087"/>
          </a:xfrm>
          <a:prstGeom prst="chevron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/>
            <a:endParaRPr lang="fr-FR"/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6533496" y="2197617"/>
            <a:ext cx="2265363" cy="3417887"/>
          </a:xfrm>
          <a:prstGeom prst="rect">
            <a:avLst/>
          </a:prstGeom>
          <a:solidFill>
            <a:schemeClr val="accent1">
              <a:alpha val="23921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6" name="AutoShape 5"/>
          <p:cNvSpPr>
            <a:spLocks noChangeArrowheads="1"/>
          </p:cNvSpPr>
          <p:nvPr/>
        </p:nvSpPr>
        <p:spPr bwMode="auto">
          <a:xfrm>
            <a:off x="2337734" y="3812104"/>
            <a:ext cx="293687" cy="390525"/>
          </a:xfrm>
          <a:prstGeom prst="can">
            <a:avLst>
              <a:gd name="adj" fmla="val 33243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7" name="AutoShape 6"/>
          <p:cNvSpPr>
            <a:spLocks noChangeArrowheads="1"/>
          </p:cNvSpPr>
          <p:nvPr/>
        </p:nvSpPr>
        <p:spPr bwMode="auto">
          <a:xfrm>
            <a:off x="2337734" y="3029467"/>
            <a:ext cx="290512" cy="382587"/>
          </a:xfrm>
          <a:prstGeom prst="can">
            <a:avLst>
              <a:gd name="adj" fmla="val 32924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8" name="AutoShape 7"/>
          <p:cNvSpPr>
            <a:spLocks noChangeArrowheads="1"/>
          </p:cNvSpPr>
          <p:nvPr/>
        </p:nvSpPr>
        <p:spPr bwMode="auto">
          <a:xfrm>
            <a:off x="2337734" y="4450279"/>
            <a:ext cx="271462" cy="373063"/>
          </a:xfrm>
          <a:prstGeom prst="can">
            <a:avLst>
              <a:gd name="adj" fmla="val 3435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59" name="AutoShape 9"/>
          <p:cNvSpPr>
            <a:spLocks noChangeArrowheads="1"/>
          </p:cNvSpPr>
          <p:nvPr/>
        </p:nvSpPr>
        <p:spPr bwMode="auto">
          <a:xfrm>
            <a:off x="6601759" y="2726254"/>
            <a:ext cx="1492250" cy="1517650"/>
          </a:xfrm>
          <a:prstGeom prst="can">
            <a:avLst>
              <a:gd name="adj" fmla="val 25426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Data </a:t>
            </a:r>
            <a:br>
              <a:rPr lang="fr-FR" sz="1800"/>
            </a:br>
            <a:r>
              <a:rPr lang="fr-FR" sz="1800"/>
              <a:t>warehouse</a:t>
            </a:r>
          </a:p>
        </p:txBody>
      </p:sp>
      <p:sp>
        <p:nvSpPr>
          <p:cNvPr id="60" name="Rectangle 59"/>
          <p:cNvSpPr>
            <a:spLocks noChangeArrowheads="1"/>
          </p:cNvSpPr>
          <p:nvPr/>
        </p:nvSpPr>
        <p:spPr bwMode="auto">
          <a:xfrm>
            <a:off x="9148109" y="2205554"/>
            <a:ext cx="1320800" cy="3408363"/>
          </a:xfrm>
          <a:prstGeom prst="rect">
            <a:avLst/>
          </a:prstGeom>
          <a:solidFill>
            <a:srgbClr val="FFDDEE">
              <a:alpha val="2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Requêtes</a:t>
            </a:r>
            <a:br>
              <a:rPr lang="fr-FR" sz="1800"/>
            </a:br>
            <a:r>
              <a:rPr lang="fr-FR" sz="1800"/>
              <a:t>Rapports</a:t>
            </a:r>
            <a:br>
              <a:rPr lang="fr-FR" sz="1800"/>
            </a:br>
            <a:r>
              <a:rPr lang="fr-FR" sz="1800"/>
              <a:t>Visualisation</a:t>
            </a:r>
            <a:br>
              <a:rPr lang="fr-FR" sz="1800"/>
            </a:br>
            <a:r>
              <a:rPr lang="fr-FR" sz="1800"/>
              <a:t>Data Mining</a:t>
            </a:r>
          </a:p>
          <a:p>
            <a:pPr algn="ctr" eaLnBrk="1" hangingPunct="1"/>
            <a:r>
              <a:rPr lang="fr-FR" sz="1800"/>
              <a:t>…</a:t>
            </a:r>
          </a:p>
        </p:txBody>
      </p:sp>
      <p:sp>
        <p:nvSpPr>
          <p:cNvPr id="61" name="Text Box 12"/>
          <p:cNvSpPr txBox="1">
            <a:spLocks noChangeArrowheads="1"/>
          </p:cNvSpPr>
          <p:nvPr/>
        </p:nvSpPr>
        <p:spPr bwMode="auto">
          <a:xfrm>
            <a:off x="2231371" y="4880492"/>
            <a:ext cx="14065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Sources de données</a:t>
            </a:r>
          </a:p>
        </p:txBody>
      </p:sp>
      <p:sp>
        <p:nvSpPr>
          <p:cNvPr id="62" name="Rectangle 61"/>
          <p:cNvSpPr>
            <a:spLocks noChangeArrowheads="1"/>
          </p:cNvSpPr>
          <p:nvPr/>
        </p:nvSpPr>
        <p:spPr bwMode="auto">
          <a:xfrm>
            <a:off x="3487084" y="2205554"/>
            <a:ext cx="1728787" cy="3398838"/>
          </a:xfrm>
          <a:prstGeom prst="rect">
            <a:avLst/>
          </a:prstGeom>
          <a:solidFill>
            <a:srgbClr val="E9E8D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Transformations:</a:t>
            </a:r>
          </a:p>
          <a:p>
            <a:pPr algn="ctr" eaLnBrk="1" hangingPunct="1"/>
            <a:r>
              <a:rPr lang="fr-FR" sz="1800"/>
              <a:t>Nettoyage</a:t>
            </a:r>
          </a:p>
          <a:p>
            <a:pPr algn="ctr" eaLnBrk="1" hangingPunct="1"/>
            <a:r>
              <a:rPr lang="fr-FR" sz="1800"/>
              <a:t>Standardisation</a:t>
            </a:r>
          </a:p>
          <a:p>
            <a:pPr algn="ctr" eaLnBrk="1" hangingPunct="1"/>
            <a:r>
              <a:rPr lang="fr-FR" sz="1800"/>
              <a:t>…</a:t>
            </a:r>
          </a:p>
          <a:p>
            <a:pPr algn="ctr" eaLnBrk="1" hangingPunct="1"/>
            <a:endParaRPr lang="fr-FR" sz="1800"/>
          </a:p>
        </p:txBody>
      </p:sp>
      <p:sp>
        <p:nvSpPr>
          <p:cNvPr id="63" name="Text Box 18"/>
          <p:cNvSpPr txBox="1">
            <a:spLocks noChangeArrowheads="1"/>
          </p:cNvSpPr>
          <p:nvPr/>
        </p:nvSpPr>
        <p:spPr bwMode="auto">
          <a:xfrm>
            <a:off x="3337859" y="1805504"/>
            <a:ext cx="2451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Zone de préparation</a:t>
            </a:r>
          </a:p>
        </p:txBody>
      </p:sp>
      <p:cxnSp>
        <p:nvCxnSpPr>
          <p:cNvPr id="64" name="AutoShape 20"/>
          <p:cNvCxnSpPr>
            <a:cxnSpLocks noChangeShapeType="1"/>
            <a:stCxn id="59" idx="3"/>
            <a:endCxn id="76" idx="2"/>
          </p:cNvCxnSpPr>
          <p:nvPr/>
        </p:nvCxnSpPr>
        <p:spPr bwMode="auto">
          <a:xfrm rot="16200000" flipH="1">
            <a:off x="7131190" y="4460598"/>
            <a:ext cx="690563" cy="257175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</p:cxnSp>
      <p:sp>
        <p:nvSpPr>
          <p:cNvPr id="65" name="Text Box 21"/>
          <p:cNvSpPr txBox="1">
            <a:spLocks noChangeArrowheads="1"/>
          </p:cNvSpPr>
          <p:nvPr/>
        </p:nvSpPr>
        <p:spPr bwMode="auto">
          <a:xfrm>
            <a:off x="9100484" y="1603892"/>
            <a:ext cx="144621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fr-FR" sz="1800"/>
              <a:t>Zone de présentation</a:t>
            </a:r>
          </a:p>
        </p:txBody>
      </p:sp>
      <p:sp>
        <p:nvSpPr>
          <p:cNvPr id="66" name="computr1"/>
          <p:cNvSpPr>
            <a:spLocks noEditPoints="1" noChangeArrowheads="1"/>
          </p:cNvSpPr>
          <p:nvPr/>
        </p:nvSpPr>
        <p:spPr bwMode="auto">
          <a:xfrm>
            <a:off x="10951509" y="2434154"/>
            <a:ext cx="300037" cy="2349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0 h 21600"/>
              <a:gd name="T4" fmla="*/ 1067882967 w 21600"/>
              <a:gd name="T5" fmla="*/ 0 h 21600"/>
              <a:gd name="T6" fmla="*/ 0 w 21600"/>
              <a:gd name="T7" fmla="*/ 2147483647 h 21600"/>
              <a:gd name="T8" fmla="*/ 0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2147483647 w 21600"/>
              <a:gd name="T17" fmla="*/ 2063682629 h 21600"/>
              <a:gd name="T18" fmla="*/ 1067882967 w 21600"/>
              <a:gd name="T19" fmla="*/ 2063682629 h 21600"/>
              <a:gd name="T20" fmla="*/ 1067882967 w 21600"/>
              <a:gd name="T21" fmla="*/ 1031772211 h 21600"/>
              <a:gd name="T22" fmla="*/ 2147483647 w 21600"/>
              <a:gd name="T23" fmla="*/ 1031772211 h 21600"/>
              <a:gd name="T24" fmla="*/ 0 w 21600"/>
              <a:gd name="T25" fmla="*/ 2147483647 h 21600"/>
              <a:gd name="T26" fmla="*/ 2147483647 w 21600"/>
              <a:gd name="T27" fmla="*/ 2147483647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4923 w 21600"/>
              <a:gd name="T43" fmla="*/ 2541 h 21600"/>
              <a:gd name="T44" fmla="*/ 16756 w 21600"/>
              <a:gd name="T45" fmla="*/ 11153 h 216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1600" h="21600" extrusionOk="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w="21600" h="21600" extrusionOk="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w="21600" h="21600" extrusionOk="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CAD1E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67" name="computr1"/>
          <p:cNvSpPr>
            <a:spLocks noEditPoints="1" noChangeArrowheads="1"/>
          </p:cNvSpPr>
          <p:nvPr/>
        </p:nvSpPr>
        <p:spPr bwMode="auto">
          <a:xfrm>
            <a:off x="10978496" y="3205679"/>
            <a:ext cx="273050" cy="217488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0 h 21600"/>
              <a:gd name="T4" fmla="*/ 666592970 w 21600"/>
              <a:gd name="T5" fmla="*/ 0 h 21600"/>
              <a:gd name="T6" fmla="*/ 0 w 21600"/>
              <a:gd name="T7" fmla="*/ 1592537595 h 21600"/>
              <a:gd name="T8" fmla="*/ 0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1592537595 h 21600"/>
              <a:gd name="T16" fmla="*/ 2147483647 w 21600"/>
              <a:gd name="T17" fmla="*/ 1402633598 h 21600"/>
              <a:gd name="T18" fmla="*/ 666592970 w 21600"/>
              <a:gd name="T19" fmla="*/ 1402633598 h 21600"/>
              <a:gd name="T20" fmla="*/ 666592970 w 21600"/>
              <a:gd name="T21" fmla="*/ 701265297 h 21600"/>
              <a:gd name="T22" fmla="*/ 2147483647 w 21600"/>
              <a:gd name="T23" fmla="*/ 701265297 h 21600"/>
              <a:gd name="T24" fmla="*/ 0 w 21600"/>
              <a:gd name="T25" fmla="*/ 1913983751 h 21600"/>
              <a:gd name="T26" fmla="*/ 2147483647 w 21600"/>
              <a:gd name="T27" fmla="*/ 1913983751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4923 w 21600"/>
              <a:gd name="T43" fmla="*/ 2541 h 21600"/>
              <a:gd name="T44" fmla="*/ 16756 w 21600"/>
              <a:gd name="T45" fmla="*/ 11153 h 216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1600" h="21600" extrusionOk="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w="21600" h="21600" extrusionOk="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w="21600" h="21600" extrusionOk="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CAD1E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68" name="computr1"/>
          <p:cNvSpPr>
            <a:spLocks noEditPoints="1" noChangeArrowheads="1"/>
          </p:cNvSpPr>
          <p:nvPr/>
        </p:nvSpPr>
        <p:spPr bwMode="auto">
          <a:xfrm>
            <a:off x="10968971" y="4748729"/>
            <a:ext cx="282575" cy="25241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0 h 21600"/>
              <a:gd name="T4" fmla="*/ 791270270 w 21600"/>
              <a:gd name="T5" fmla="*/ 0 h 21600"/>
              <a:gd name="T6" fmla="*/ 0 w 21600"/>
              <a:gd name="T7" fmla="*/ 2147483647 h 21600"/>
              <a:gd name="T8" fmla="*/ 0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2147483647 w 21600"/>
              <a:gd name="T17" fmla="*/ 2147483647 h 21600"/>
              <a:gd name="T18" fmla="*/ 791270270 w 21600"/>
              <a:gd name="T19" fmla="*/ 2147483647 h 21600"/>
              <a:gd name="T20" fmla="*/ 791270270 w 21600"/>
              <a:gd name="T21" fmla="*/ 1476603009 h 21600"/>
              <a:gd name="T22" fmla="*/ 2147483647 w 21600"/>
              <a:gd name="T23" fmla="*/ 1476603009 h 21600"/>
              <a:gd name="T24" fmla="*/ 0 w 21600"/>
              <a:gd name="T25" fmla="*/ 2147483647 h 21600"/>
              <a:gd name="T26" fmla="*/ 2147483647 w 21600"/>
              <a:gd name="T27" fmla="*/ 2147483647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4923 w 21600"/>
              <a:gd name="T43" fmla="*/ 2541 h 21600"/>
              <a:gd name="T44" fmla="*/ 16756 w 21600"/>
              <a:gd name="T45" fmla="*/ 11153 h 216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1600" h="21600" extrusionOk="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w="21600" h="21600" extrusionOk="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w="21600" h="21600" extrusionOk="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CAD1E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69" name="computr1"/>
          <p:cNvSpPr>
            <a:spLocks noEditPoints="1" noChangeArrowheads="1"/>
          </p:cNvSpPr>
          <p:nvPr/>
        </p:nvSpPr>
        <p:spPr bwMode="auto">
          <a:xfrm>
            <a:off x="10988021" y="3977204"/>
            <a:ext cx="263525" cy="2794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0 h 21600"/>
              <a:gd name="T4" fmla="*/ 558150586 w 21600"/>
              <a:gd name="T5" fmla="*/ 0 h 21600"/>
              <a:gd name="T6" fmla="*/ 0 w 21600"/>
              <a:gd name="T7" fmla="*/ 2147483647 h 21600"/>
              <a:gd name="T8" fmla="*/ 0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2147483647 w 21600"/>
              <a:gd name="T17" fmla="*/ 2147483647 h 21600"/>
              <a:gd name="T18" fmla="*/ 558150586 w 21600"/>
              <a:gd name="T19" fmla="*/ 2147483647 h 21600"/>
              <a:gd name="T20" fmla="*/ 558150586 w 21600"/>
              <a:gd name="T21" fmla="*/ 2147483647 h 21600"/>
              <a:gd name="T22" fmla="*/ 2147483647 w 21600"/>
              <a:gd name="T23" fmla="*/ 2147483647 h 21600"/>
              <a:gd name="T24" fmla="*/ 0 w 21600"/>
              <a:gd name="T25" fmla="*/ 2147483647 h 21600"/>
              <a:gd name="T26" fmla="*/ 2147483647 w 21600"/>
              <a:gd name="T27" fmla="*/ 2147483647 h 21600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4923 w 21600"/>
              <a:gd name="T43" fmla="*/ 2541 h 21600"/>
              <a:gd name="T44" fmla="*/ 16756 w 21600"/>
              <a:gd name="T45" fmla="*/ 11153 h 21600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T42" t="T43" r="T44" b="T45"/>
            <a:pathLst>
              <a:path w="21600" h="21600" extrusionOk="0">
                <a:moveTo>
                  <a:pt x="16994" y="15388"/>
                </a:moveTo>
                <a:lnTo>
                  <a:pt x="16994" y="13553"/>
                </a:lnTo>
                <a:lnTo>
                  <a:pt x="19535" y="13553"/>
                </a:lnTo>
                <a:lnTo>
                  <a:pt x="19535" y="10729"/>
                </a:lnTo>
                <a:lnTo>
                  <a:pt x="19535" y="6776"/>
                </a:lnTo>
                <a:lnTo>
                  <a:pt x="19535" y="0"/>
                </a:lnTo>
                <a:lnTo>
                  <a:pt x="10800" y="0"/>
                </a:lnTo>
                <a:lnTo>
                  <a:pt x="2065" y="0"/>
                </a:lnTo>
                <a:lnTo>
                  <a:pt x="2065" y="6776"/>
                </a:lnTo>
                <a:lnTo>
                  <a:pt x="2065" y="10729"/>
                </a:lnTo>
                <a:lnTo>
                  <a:pt x="2065" y="13553"/>
                </a:lnTo>
                <a:lnTo>
                  <a:pt x="4606" y="13553"/>
                </a:lnTo>
                <a:lnTo>
                  <a:pt x="4606" y="15388"/>
                </a:lnTo>
                <a:lnTo>
                  <a:pt x="0" y="15388"/>
                </a:lnTo>
                <a:lnTo>
                  <a:pt x="0" y="21600"/>
                </a:lnTo>
                <a:lnTo>
                  <a:pt x="10800" y="21600"/>
                </a:lnTo>
                <a:lnTo>
                  <a:pt x="21600" y="21600"/>
                </a:lnTo>
                <a:lnTo>
                  <a:pt x="21600" y="15388"/>
                </a:lnTo>
                <a:lnTo>
                  <a:pt x="16994" y="15388"/>
                </a:lnTo>
                <a:close/>
              </a:path>
              <a:path w="21600" h="21600" extrusionOk="0">
                <a:moveTo>
                  <a:pt x="4606" y="15388"/>
                </a:moveTo>
                <a:lnTo>
                  <a:pt x="4606" y="13553"/>
                </a:lnTo>
                <a:lnTo>
                  <a:pt x="16994" y="13553"/>
                </a:lnTo>
                <a:lnTo>
                  <a:pt x="16994" y="15388"/>
                </a:lnTo>
                <a:lnTo>
                  <a:pt x="4606" y="15388"/>
                </a:lnTo>
              </a:path>
              <a:path w="21600" h="21600" extrusionOk="0">
                <a:moveTo>
                  <a:pt x="4606" y="11294"/>
                </a:moveTo>
                <a:lnTo>
                  <a:pt x="4606" y="2259"/>
                </a:lnTo>
                <a:lnTo>
                  <a:pt x="16994" y="2259"/>
                </a:lnTo>
                <a:lnTo>
                  <a:pt x="16994" y="11294"/>
                </a:lnTo>
                <a:lnTo>
                  <a:pt x="4606" y="11294"/>
                </a:lnTo>
                <a:moveTo>
                  <a:pt x="13976" y="17082"/>
                </a:moveTo>
                <a:lnTo>
                  <a:pt x="13976" y="16376"/>
                </a:lnTo>
                <a:lnTo>
                  <a:pt x="20171" y="16376"/>
                </a:lnTo>
                <a:lnTo>
                  <a:pt x="20171" y="17082"/>
                </a:lnTo>
                <a:lnTo>
                  <a:pt x="13976" y="17082"/>
                </a:lnTo>
              </a:path>
            </a:pathLst>
          </a:custGeom>
          <a:solidFill>
            <a:srgbClr val="CAD1E8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0" name="Line 26"/>
          <p:cNvSpPr>
            <a:spLocks noChangeShapeType="1"/>
          </p:cNvSpPr>
          <p:nvPr/>
        </p:nvSpPr>
        <p:spPr bwMode="auto">
          <a:xfrm>
            <a:off x="10489546" y="2546867"/>
            <a:ext cx="4778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1" name="Line 27"/>
          <p:cNvSpPr>
            <a:spLocks noChangeShapeType="1"/>
          </p:cNvSpPr>
          <p:nvPr/>
        </p:nvSpPr>
        <p:spPr bwMode="auto">
          <a:xfrm>
            <a:off x="10483196" y="3300929"/>
            <a:ext cx="4587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2" name="Line 28"/>
          <p:cNvSpPr>
            <a:spLocks noChangeShapeType="1"/>
          </p:cNvSpPr>
          <p:nvPr/>
        </p:nvSpPr>
        <p:spPr bwMode="auto">
          <a:xfrm>
            <a:off x="10570509" y="4099442"/>
            <a:ext cx="406400" cy="7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3" name="Line 29"/>
          <p:cNvSpPr>
            <a:spLocks noChangeShapeType="1"/>
          </p:cNvSpPr>
          <p:nvPr/>
        </p:nvSpPr>
        <p:spPr bwMode="auto">
          <a:xfrm>
            <a:off x="10595909" y="4821754"/>
            <a:ext cx="361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4" name="Line 30"/>
          <p:cNvSpPr>
            <a:spLocks noChangeShapeType="1"/>
          </p:cNvSpPr>
          <p:nvPr/>
        </p:nvSpPr>
        <p:spPr bwMode="auto">
          <a:xfrm>
            <a:off x="8260696" y="4872554"/>
            <a:ext cx="901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5" name="Line 31"/>
          <p:cNvSpPr>
            <a:spLocks noChangeShapeType="1"/>
          </p:cNvSpPr>
          <p:nvPr/>
        </p:nvSpPr>
        <p:spPr bwMode="auto">
          <a:xfrm>
            <a:off x="8098771" y="3612079"/>
            <a:ext cx="10287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6" name="AutoShape 32"/>
          <p:cNvSpPr>
            <a:spLocks noChangeArrowheads="1"/>
          </p:cNvSpPr>
          <p:nvPr/>
        </p:nvSpPr>
        <p:spPr bwMode="auto">
          <a:xfrm>
            <a:off x="7605059" y="4396304"/>
            <a:ext cx="960437" cy="1076325"/>
          </a:xfrm>
          <a:prstGeom prst="can">
            <a:avLst>
              <a:gd name="adj" fmla="val 28017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fr-FR" sz="1800"/>
              <a:t>Datamart</a:t>
            </a:r>
          </a:p>
        </p:txBody>
      </p:sp>
      <p:sp>
        <p:nvSpPr>
          <p:cNvPr id="77" name="Documents"/>
          <p:cNvSpPr>
            <a:spLocks noEditPoints="1" noChangeArrowheads="1"/>
          </p:cNvSpPr>
          <p:nvPr/>
        </p:nvSpPr>
        <p:spPr bwMode="auto">
          <a:xfrm>
            <a:off x="2337734" y="2411929"/>
            <a:ext cx="244475" cy="414338"/>
          </a:xfrm>
          <a:custGeom>
            <a:avLst/>
            <a:gdLst>
              <a:gd name="T0" fmla="*/ 0 w 21600"/>
              <a:gd name="T1" fmla="*/ 2147483647 h 21600"/>
              <a:gd name="T2" fmla="*/ 644145514 w 21600"/>
              <a:gd name="T3" fmla="*/ 0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305547390 w 21600"/>
              <a:gd name="T15" fmla="*/ 2147483647 h 21600"/>
              <a:gd name="T16" fmla="*/ 2147483647 w 21600"/>
              <a:gd name="T17" fmla="*/ 0 h 21600"/>
              <a:gd name="T18" fmla="*/ 2005990797 w 21600"/>
              <a:gd name="T19" fmla="*/ 0 h 21600"/>
              <a:gd name="T20" fmla="*/ 0 w 21600"/>
              <a:gd name="T21" fmla="*/ 2147483647 h 21600"/>
              <a:gd name="T22" fmla="*/ 2147483647 w 21600"/>
              <a:gd name="T23" fmla="*/ 2147483647 h 216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1645 w 21600"/>
              <a:gd name="T37" fmla="*/ 4171 h 21600"/>
              <a:gd name="T38" fmla="*/ 16522 w 21600"/>
              <a:gd name="T39" fmla="*/ 17314 h 216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21600" h="21600" extrusionOk="0">
                <a:moveTo>
                  <a:pt x="0" y="18014"/>
                </a:moveTo>
                <a:lnTo>
                  <a:pt x="0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68" y="1428"/>
                </a:lnTo>
                <a:lnTo>
                  <a:pt x="3468" y="0"/>
                </a:lnTo>
                <a:lnTo>
                  <a:pt x="21653" y="0"/>
                </a:lnTo>
                <a:lnTo>
                  <a:pt x="21653" y="18828"/>
                </a:lnTo>
                <a:lnTo>
                  <a:pt x="19954" y="188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16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  <a:path w="21600" h="21600" extrusionOk="0">
                <a:moveTo>
                  <a:pt x="3486" y="1428"/>
                </a:moveTo>
                <a:lnTo>
                  <a:pt x="19954" y="1428"/>
                </a:lnTo>
                <a:lnTo>
                  <a:pt x="19954" y="20214"/>
                </a:lnTo>
                <a:lnTo>
                  <a:pt x="18256" y="20214"/>
                </a:lnTo>
                <a:lnTo>
                  <a:pt x="18256" y="2800"/>
                </a:lnTo>
                <a:lnTo>
                  <a:pt x="1645" y="2800"/>
                </a:lnTo>
                <a:lnTo>
                  <a:pt x="1645" y="1428"/>
                </a:lnTo>
                <a:lnTo>
                  <a:pt x="3486" y="1428"/>
                </a:lnTo>
                <a:close/>
              </a:path>
              <a:path w="21600" h="21600" extrusionOk="0">
                <a:moveTo>
                  <a:pt x="0" y="18014"/>
                </a:moveTo>
                <a:lnTo>
                  <a:pt x="4434" y="18000"/>
                </a:lnTo>
                <a:lnTo>
                  <a:pt x="4434" y="21600"/>
                </a:lnTo>
                <a:lnTo>
                  <a:pt x="0" y="1801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  <p:sp>
        <p:nvSpPr>
          <p:cNvPr id="78" name="Text Box 35"/>
          <p:cNvSpPr txBox="1">
            <a:spLocks noChangeArrowheads="1"/>
          </p:cNvSpPr>
          <p:nvPr/>
        </p:nvSpPr>
        <p:spPr bwMode="auto">
          <a:xfrm>
            <a:off x="5717521" y="2481779"/>
            <a:ext cx="352425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/>
            <a:r>
              <a:rPr lang="fr-FR" sz="1800"/>
              <a:t>CHARGEMENT</a:t>
            </a:r>
          </a:p>
        </p:txBody>
      </p:sp>
      <p:sp>
        <p:nvSpPr>
          <p:cNvPr id="79" name="Text Box 38"/>
          <p:cNvSpPr txBox="1">
            <a:spLocks noChangeArrowheads="1"/>
          </p:cNvSpPr>
          <p:nvPr/>
        </p:nvSpPr>
        <p:spPr bwMode="auto">
          <a:xfrm>
            <a:off x="6706534" y="1800742"/>
            <a:ext cx="20145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1800"/>
              <a:t>Zone de stockage</a:t>
            </a:r>
          </a:p>
        </p:txBody>
      </p:sp>
      <p:sp>
        <p:nvSpPr>
          <p:cNvPr id="80" name="Text Box 41"/>
          <p:cNvSpPr txBox="1">
            <a:spLocks noChangeArrowheads="1"/>
          </p:cNvSpPr>
          <p:nvPr/>
        </p:nvSpPr>
        <p:spPr bwMode="auto">
          <a:xfrm>
            <a:off x="2915584" y="2372242"/>
            <a:ext cx="230187" cy="253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fr-FR"/>
              <a:t>EXTRACTION</a:t>
            </a:r>
          </a:p>
        </p:txBody>
      </p:sp>
      <p:sp>
        <p:nvSpPr>
          <p:cNvPr id="81" name="AutoShape 48"/>
          <p:cNvSpPr>
            <a:spLocks noChangeArrowheads="1"/>
          </p:cNvSpPr>
          <p:nvPr/>
        </p:nvSpPr>
        <p:spPr bwMode="auto">
          <a:xfrm>
            <a:off x="5427009" y="2361129"/>
            <a:ext cx="939800" cy="3009900"/>
          </a:xfrm>
          <a:prstGeom prst="chevron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defPPr>
              <a:defRPr lang="fr-F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6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0634159"/>
      </p:ext>
    </p:extLst>
  </p:cSld>
  <p:clrMapOvr>
    <a:masterClrMapping/>
  </p:clrMapOvr>
</p:sld>
</file>

<file path=ppt/theme/theme1.xml><?xml version="1.0" encoding="utf-8"?>
<a:theme xmlns:a="http://schemas.openxmlformats.org/drawingml/2006/main" name="Brin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D0F0D020972FE47812203D8E9D92880" ma:contentTypeVersion="11" ma:contentTypeDescription="Crée un document." ma:contentTypeScope="" ma:versionID="c90134f9de34b8b5b767b35297e18fae">
  <xsd:schema xmlns:xsd="http://www.w3.org/2001/XMLSchema" xmlns:xs="http://www.w3.org/2001/XMLSchema" xmlns:p="http://schemas.microsoft.com/office/2006/metadata/properties" xmlns:ns2="6d27f957-83e6-4dca-be9b-a435a36946d6" xmlns:ns3="4380d711-1cc9-4144-abfd-5d54a99fc082" targetNamespace="http://schemas.microsoft.com/office/2006/metadata/properties" ma:root="true" ma:fieldsID="8bb6d77c40b7d7baa7814bc08b2eb6f2" ns2:_="" ns3:_="">
    <xsd:import namespace="6d27f957-83e6-4dca-be9b-a435a36946d6"/>
    <xsd:import namespace="4380d711-1cc9-4144-abfd-5d54a99fc08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27f957-83e6-4dca-be9b-a435a36946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5b5b1679-bd09-40cf-8c6b-b5999be86c8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80d711-1cc9-4144-abfd-5d54a99fc08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6e97944-d9c7-40d6-b2b5-f41851aa1f0a}" ma:internalName="TaxCatchAll" ma:showField="CatchAllData" ma:web="4380d711-1cc9-4144-abfd-5d54a99fc08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27f957-83e6-4dca-be9b-a435a36946d6">
      <Terms xmlns="http://schemas.microsoft.com/office/infopath/2007/PartnerControls"/>
    </lcf76f155ced4ddcb4097134ff3c332f>
    <TaxCatchAll xmlns="4380d711-1cc9-4144-abfd-5d54a99fc082" xsi:nil="true"/>
  </documentManagement>
</p:properties>
</file>

<file path=customXml/itemProps1.xml><?xml version="1.0" encoding="utf-8"?>
<ds:datastoreItem xmlns:ds="http://schemas.openxmlformats.org/officeDocument/2006/customXml" ds:itemID="{92D15ADB-67B6-43CB-A40C-0FD1B48DB8E6}"/>
</file>

<file path=customXml/itemProps2.xml><?xml version="1.0" encoding="utf-8"?>
<ds:datastoreItem xmlns:ds="http://schemas.openxmlformats.org/officeDocument/2006/customXml" ds:itemID="{779C7F36-511E-40F2-952E-7B53B4B5A45F}"/>
</file>

<file path=customXml/itemProps3.xml><?xml version="1.0" encoding="utf-8"?>
<ds:datastoreItem xmlns:ds="http://schemas.openxmlformats.org/officeDocument/2006/customXml" ds:itemID="{8EEBF2CE-D0E3-4FE9-B507-36D08CC68F92}"/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TM02892315[[fn=Brin]]</Template>
  <TotalTime>383</TotalTime>
  <Words>490</Words>
  <Application>Microsoft Office PowerPoint</Application>
  <PresentationFormat>Grand écran</PresentationFormat>
  <Paragraphs>74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Brin</vt:lpstr>
      <vt:lpstr>Introduction Entrepôt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benhamoudaroua@outlook.com</dc:creator>
  <cp:lastModifiedBy>benhamoudaroua@outlook.com</cp:lastModifiedBy>
  <cp:revision>40</cp:revision>
  <dcterms:created xsi:type="dcterms:W3CDTF">2021-09-28T15:26:04Z</dcterms:created>
  <dcterms:modified xsi:type="dcterms:W3CDTF">2022-02-01T10:46:07Z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0x0101006D0F0D020972FE47812203D8E9D92880</vt:lpwstr>
  </property>
</Properties>
</file>