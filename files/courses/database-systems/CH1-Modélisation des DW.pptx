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9" r:id="rId9"/>
    <p:sldId id="267" r:id="rId10"/>
    <p:sldId id="268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58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Modélisation des DW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Avec Mme Roua Ben </a:t>
            </a:r>
            <a:r>
              <a:rPr lang="fr-FR" dirty="0" err="1" smtClean="0"/>
              <a:t>Hamouda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806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I. Composants Modèle</a:t>
            </a:r>
          </a:p>
          <a:p>
            <a:pPr eaLnBrk="1" hangingPunct="1"/>
            <a:r>
              <a:rPr lang="fr-FR" dirty="0" smtClean="0"/>
              <a:t>      </a:t>
            </a:r>
            <a:r>
              <a:rPr lang="fr-FR" sz="4000" dirty="0" smtClean="0"/>
              <a:t>1) Table de Faits (TF)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845468" y="1447801"/>
            <a:ext cx="10223967" cy="5990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fr-FR" sz="2400" dirty="0"/>
              <a:t>Table principale du modèle </a:t>
            </a:r>
            <a:r>
              <a:rPr lang="fr-FR" sz="2400" dirty="0" smtClean="0"/>
              <a:t>dimensionnel</a:t>
            </a:r>
          </a:p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Contient </a:t>
            </a:r>
            <a:r>
              <a:rPr lang="fr-FR" sz="2400" dirty="0"/>
              <a:t>les données observables (les faits) sur le sujet étudié selon divers axes d’analyse (les dimensions</a:t>
            </a:r>
            <a:r>
              <a:rPr lang="fr-FR" sz="2400" dirty="0" smtClean="0"/>
              <a:t>)</a:t>
            </a:r>
          </a:p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Les informations dans une table de faits sont des données numériques et sont utilisées pour faire des calcules (SUM, AVG,..)</a:t>
            </a:r>
          </a:p>
          <a:p>
            <a:pPr eaLnBrk="1" hangingPunct="1">
              <a:lnSpc>
                <a:spcPct val="150000"/>
              </a:lnSpc>
            </a:pPr>
            <a:r>
              <a:rPr lang="fr-FR" dirty="0" smtClean="0"/>
              <a:t>Trois </a:t>
            </a:r>
            <a:r>
              <a:rPr lang="fr-FR" dirty="0"/>
              <a:t>types de faits: </a:t>
            </a:r>
          </a:p>
          <a:p>
            <a:pPr lvl="2" eaLnBrk="1" hangingPunct="1">
              <a:lnSpc>
                <a:spcPct val="150000"/>
              </a:lnSpc>
            </a:pPr>
            <a:r>
              <a:rPr lang="fr-FR" dirty="0"/>
              <a:t>Additif</a:t>
            </a:r>
          </a:p>
          <a:p>
            <a:pPr lvl="2" eaLnBrk="1" hangingPunct="1">
              <a:lnSpc>
                <a:spcPct val="150000"/>
              </a:lnSpc>
            </a:pPr>
            <a:r>
              <a:rPr lang="fr-FR" dirty="0"/>
              <a:t>Semi additif</a:t>
            </a:r>
          </a:p>
          <a:p>
            <a:pPr lvl="2" eaLnBrk="1" hangingPunct="1">
              <a:lnSpc>
                <a:spcPct val="150000"/>
              </a:lnSpc>
            </a:pPr>
            <a:r>
              <a:rPr lang="fr-FR" dirty="0"/>
              <a:t>Non additif</a:t>
            </a:r>
          </a:p>
          <a:p>
            <a:pPr eaLnBrk="1" hangingPunct="1"/>
            <a:endParaRPr lang="fr-FR" sz="2400" dirty="0" smtClean="0"/>
          </a:p>
        </p:txBody>
      </p:sp>
    </p:spTree>
    <p:extLst>
      <p:ext uri="{BB962C8B-B14F-4D97-AF65-F5344CB8AC3E}">
        <p14:creationId xmlns:p14="http://schemas.microsoft.com/office/powerpoint/2010/main" val="413410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684105" y="1418665"/>
            <a:ext cx="9958435" cy="532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Additif: additionnable suivant toutes les dimensions </a:t>
            </a:r>
          </a:p>
          <a:p>
            <a:pPr lvl="1" eaLnBrk="1" hangingPunct="1">
              <a:lnSpc>
                <a:spcPct val="150000"/>
              </a:lnSpc>
            </a:pPr>
            <a:r>
              <a:rPr lang="fr-FR" sz="2200" dirty="0" smtClean="0"/>
              <a:t>Quantités vendues, chiffre d’affaire</a:t>
            </a:r>
            <a:endParaRPr lang="fr-FR" dirty="0" smtClean="0"/>
          </a:p>
          <a:p>
            <a:pPr eaLnBrk="1" hangingPunct="1">
              <a:lnSpc>
                <a:spcPct val="150000"/>
              </a:lnSpc>
            </a:pPr>
            <a:r>
              <a:rPr lang="fr-FR" sz="2600" dirty="0" smtClean="0"/>
              <a:t>Semi additif: additionnable suivant certaines dimensions </a:t>
            </a:r>
          </a:p>
          <a:p>
            <a:pPr lvl="1" eaLnBrk="1" hangingPunct="1">
              <a:lnSpc>
                <a:spcPct val="150000"/>
              </a:lnSpc>
            </a:pPr>
            <a:r>
              <a:rPr lang="fr-FR" sz="2200" dirty="0" smtClean="0"/>
              <a:t>Solde d’un compte bancaire: </a:t>
            </a:r>
          </a:p>
          <a:p>
            <a:pPr lvl="2" eaLnBrk="1" hangingPunct="1">
              <a:lnSpc>
                <a:spcPct val="150000"/>
              </a:lnSpc>
            </a:pPr>
            <a:r>
              <a:rPr lang="fr-FR" dirty="0" smtClean="0"/>
              <a:t>Pas de sens d’additionner sur les dates car cela représente des instantanés d’un niveau</a:t>
            </a:r>
          </a:p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Non additif: fait non additionnable quelque soit la dimension </a:t>
            </a:r>
          </a:p>
          <a:p>
            <a:pPr lvl="1" eaLnBrk="1" hangingPunct="1">
              <a:lnSpc>
                <a:spcPct val="150000"/>
              </a:lnSpc>
            </a:pPr>
            <a:r>
              <a:rPr lang="fr-FR" sz="2200" dirty="0" smtClean="0"/>
              <a:t>Prix unitaire: l’addition sur n’importe quelle dimension n’a pas de sens</a:t>
            </a:r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I. Composants Modèle</a:t>
            </a:r>
          </a:p>
          <a:p>
            <a:pPr eaLnBrk="1" hangingPunct="1"/>
            <a:r>
              <a:rPr lang="fr-FR" dirty="0" smtClean="0"/>
              <a:t>      </a:t>
            </a:r>
            <a:r>
              <a:rPr lang="fr-FR" sz="4000" dirty="0" smtClean="0"/>
              <a:t>1) Table de Faits (TF)</a:t>
            </a:r>
          </a:p>
        </p:txBody>
      </p:sp>
    </p:spTree>
    <p:extLst>
      <p:ext uri="{BB962C8B-B14F-4D97-AF65-F5344CB8AC3E}">
        <p14:creationId xmlns:p14="http://schemas.microsoft.com/office/powerpoint/2010/main" val="3610435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684105" y="1803680"/>
            <a:ext cx="9772790" cy="4583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Axe d’analyse selon lequel vont être étudiées les données observables (faits)</a:t>
            </a:r>
          </a:p>
          <a:p>
            <a:pPr eaLnBrk="1" hangingPunct="1">
              <a:lnSpc>
                <a:spcPct val="150000"/>
              </a:lnSpc>
            </a:pPr>
            <a:r>
              <a:rPr lang="fr-FR" dirty="0"/>
              <a:t>Dimension = axe d’analyse</a:t>
            </a:r>
          </a:p>
          <a:p>
            <a:pPr lvl="1" eaLnBrk="1" hangingPunct="1">
              <a:lnSpc>
                <a:spcPct val="150000"/>
              </a:lnSpc>
            </a:pPr>
            <a:r>
              <a:rPr lang="fr-FR" dirty="0"/>
              <a:t>Client, produit, période de temps…</a:t>
            </a:r>
          </a:p>
          <a:p>
            <a:pPr eaLnBrk="1" hangingPunct="1">
              <a:lnSpc>
                <a:spcPct val="150000"/>
              </a:lnSpc>
            </a:pPr>
            <a:r>
              <a:rPr lang="fr-FR" dirty="0"/>
              <a:t>Contient souvent un grand nombre de colonnes</a:t>
            </a:r>
          </a:p>
          <a:p>
            <a:pPr lvl="1" eaLnBrk="1" hangingPunct="1">
              <a:lnSpc>
                <a:spcPct val="150000"/>
              </a:lnSpc>
            </a:pPr>
            <a:r>
              <a:rPr lang="fr-FR" dirty="0"/>
              <a:t>L’ensemble des informations descriptives des faits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endParaRPr lang="fr-FR" sz="2400" dirty="0" smtClean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I. Composants Modèle</a:t>
            </a:r>
          </a:p>
          <a:p>
            <a:pPr eaLnBrk="1" hangingPunct="1"/>
            <a:r>
              <a:rPr lang="fr-FR" dirty="0" smtClean="0"/>
              <a:t>      </a:t>
            </a:r>
            <a:r>
              <a:rPr lang="fr-FR" sz="4000" dirty="0" smtClean="0"/>
              <a:t>1) Table de Dimension (TD)</a:t>
            </a:r>
          </a:p>
        </p:txBody>
      </p:sp>
    </p:spTree>
    <p:extLst>
      <p:ext uri="{BB962C8B-B14F-4D97-AF65-F5344CB8AC3E}">
        <p14:creationId xmlns:p14="http://schemas.microsoft.com/office/powerpoint/2010/main" val="383946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594457" y="365312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fr-FR" dirty="0" smtClean="0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972235" y="2813423"/>
            <a:ext cx="6281224" cy="120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Commune à l’ensemble du DW</a:t>
            </a:r>
          </a:p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Reliée à toute table de faits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58847"/>
              </p:ext>
            </p:extLst>
          </p:nvPr>
        </p:nvGraphicFramePr>
        <p:xfrm>
          <a:off x="7582555" y="2052919"/>
          <a:ext cx="4094163" cy="3913612"/>
        </p:xfrm>
        <a:graphic>
          <a:graphicData uri="http://schemas.openxmlformats.org/drawingml/2006/table">
            <a:tbl>
              <a:tblPr/>
              <a:tblGrid>
                <a:gridCol w="4094163"/>
              </a:tblGrid>
              <a:tr h="457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Dimension Temps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6F2"/>
                    </a:solidFill>
                  </a:tcPr>
                </a:tc>
              </a:tr>
              <a:tr h="3456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Clé temps (CP)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Jour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Mois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Trimestre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Semestre </a:t>
                      </a:r>
                      <a:b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fr-FR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Année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Num_jour_dans_année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Num_semaine_ds_année</a:t>
                      </a:r>
                      <a:endParaRPr kumimoji="0" lang="fr-FR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I. Composants Modèle</a:t>
            </a:r>
          </a:p>
          <a:p>
            <a:pPr eaLnBrk="1" hangingPunct="1"/>
            <a:r>
              <a:rPr lang="fr-FR" dirty="0" smtClean="0"/>
              <a:t>      </a:t>
            </a:r>
            <a:r>
              <a:rPr lang="fr-FR" sz="4000" dirty="0" smtClean="0"/>
              <a:t>1) Table de Dimension (TD)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361235" y="2010281"/>
            <a:ext cx="4055919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fr-FR" sz="2400" dirty="0"/>
              <a:t>La dimension Temps/Date</a:t>
            </a:r>
          </a:p>
        </p:txBody>
      </p:sp>
    </p:spTree>
    <p:extLst>
      <p:ext uri="{BB962C8B-B14F-4D97-AF65-F5344CB8AC3E}">
        <p14:creationId xmlns:p14="http://schemas.microsoft.com/office/powerpoint/2010/main" val="3118273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50241" y="552393"/>
            <a:ext cx="8911687" cy="1280890"/>
          </a:xfrm>
        </p:spPr>
        <p:txBody>
          <a:bodyPr/>
          <a:lstStyle/>
          <a:p>
            <a:r>
              <a:rPr lang="fr-FR" dirty="0" smtClean="0"/>
              <a:t>Exemple</a:t>
            </a:r>
            <a:endParaRPr lang="fr-FR" dirty="0"/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361374" y="1185582"/>
            <a:ext cx="10223967" cy="3083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fr-FR" sz="2400" dirty="0" smtClean="0"/>
              <a:t>Quels sont les ventes par produit, par zone, par date?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sz="2400" dirty="0" smtClean="0"/>
              <a:t>           1) Quelle est la table de fait?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sz="2400" dirty="0"/>
              <a:t> </a:t>
            </a:r>
            <a:r>
              <a:rPr lang="fr-FR" sz="2400" dirty="0" smtClean="0"/>
              <a:t>          2) Quelles sont les tables de dimension?</a:t>
            </a: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fr-FR" sz="2400" dirty="0" smtClean="0"/>
              <a:t>           3) Donner votre proposition de modèle multidimensionnel répondant à cette requête.</a:t>
            </a:r>
          </a:p>
        </p:txBody>
      </p:sp>
    </p:spTree>
    <p:extLst>
      <p:ext uri="{BB962C8B-B14F-4D97-AF65-F5344CB8AC3E}">
        <p14:creationId xmlns:p14="http://schemas.microsoft.com/office/powerpoint/2010/main" val="286980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717675" y="215107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II. Les types de modèles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3184664" y="1990164"/>
            <a:ext cx="5567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 smtClean="0"/>
              <a:t>Trois Types de modèles :</a:t>
            </a:r>
          </a:p>
          <a:p>
            <a:pPr marL="806450">
              <a:lnSpc>
                <a:spcPct val="150000"/>
              </a:lnSpc>
              <a:buAutoNum type="arabicParenR"/>
            </a:pPr>
            <a:r>
              <a:rPr lang="fr-FR" sz="2400" dirty="0" smtClean="0"/>
              <a:t>Modèle en étoile</a:t>
            </a:r>
          </a:p>
          <a:p>
            <a:pPr marL="806450">
              <a:lnSpc>
                <a:spcPct val="150000"/>
              </a:lnSpc>
              <a:buAutoNum type="arabicParenR"/>
            </a:pPr>
            <a:r>
              <a:rPr lang="fr-FR" sz="2400" dirty="0" smtClean="0"/>
              <a:t>Modèle en flocon</a:t>
            </a:r>
          </a:p>
          <a:p>
            <a:pPr marL="806450">
              <a:lnSpc>
                <a:spcPct val="150000"/>
              </a:lnSpc>
              <a:buAutoNum type="arabicParenR"/>
            </a:pPr>
            <a:r>
              <a:rPr lang="fr-FR" sz="2400" dirty="0" smtClean="0"/>
              <a:t>Modèle en constellation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30338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717675" y="215107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II. Les types de modèles</a:t>
            </a:r>
          </a:p>
          <a:p>
            <a:pPr eaLnBrk="1" hangingPunct="1"/>
            <a:r>
              <a:rPr lang="fr-FR" dirty="0" smtClean="0"/>
              <a:t>          1) Modèle en étoile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/>
        </p:nvSpPr>
        <p:spPr bwMode="auto">
          <a:xfrm>
            <a:off x="8465343" y="6185694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10247241-C9A2-456B-BF8D-2E361A091346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5" name="Espace réservé du numéro de diapositive 5"/>
          <p:cNvSpPr>
            <a:spLocks noGrp="1"/>
          </p:cNvSpPr>
          <p:nvPr/>
        </p:nvSpPr>
        <p:spPr bwMode="auto">
          <a:xfrm>
            <a:off x="8382000" y="650426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5ABB3495-6C0C-475F-9FC7-4179A7BAFAFE}" type="slidenum">
              <a:rPr lang="fr-FR" smtClean="0"/>
              <a:pPr/>
              <a:t>8</a:t>
            </a:fld>
            <a:endParaRPr lang="fr-FR" smtClean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2235200" y="1913218"/>
            <a:ext cx="7623175" cy="4527550"/>
          </a:xfrm>
          <a:prstGeom prst="star5">
            <a:avLst/>
          </a:prstGeom>
          <a:solidFill>
            <a:schemeClr val="accent1">
              <a:alpha val="4900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fr-FR"/>
          </a:p>
        </p:txBody>
      </p: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5116514" y="1563968"/>
            <a:ext cx="1833563" cy="1568450"/>
            <a:chOff x="2221" y="734"/>
            <a:chExt cx="1155" cy="988"/>
          </a:xfrm>
        </p:grpSpPr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2224" y="734"/>
              <a:ext cx="1152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Temps</a:t>
              </a:r>
              <a:br>
                <a:rPr lang="fr-FR"/>
              </a:br>
              <a:r>
                <a:rPr lang="fr-FR"/>
                <a:t>ID temps</a:t>
              </a:r>
              <a:br>
                <a:rPr lang="fr-FR"/>
              </a:br>
              <a:r>
                <a:rPr lang="fr-FR"/>
                <a:t>année</a:t>
              </a:r>
              <a:br>
                <a:rPr lang="fr-FR"/>
              </a:br>
              <a:r>
                <a:rPr lang="fr-FR"/>
                <a:t>mois</a:t>
              </a:r>
              <a:br>
                <a:rPr lang="fr-FR"/>
              </a:br>
              <a:r>
                <a:rPr lang="fr-FR"/>
                <a:t>jour</a:t>
              </a:r>
              <a:br>
                <a:rPr lang="fr-FR"/>
              </a:br>
              <a:r>
                <a:rPr lang="fr-FR"/>
                <a:t>…</a:t>
              </a: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2221" y="928"/>
              <a:ext cx="1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1905000" y="2933981"/>
            <a:ext cx="1993900" cy="1568450"/>
            <a:chOff x="158" y="2058"/>
            <a:chExt cx="1256" cy="988"/>
          </a:xfrm>
        </p:grpSpPr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58" y="2058"/>
              <a:ext cx="1244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Magasin</a:t>
              </a:r>
              <a:br>
                <a:rPr lang="fr-FR"/>
              </a:br>
              <a:r>
                <a:rPr lang="fr-FR"/>
                <a:t>ID magasin</a:t>
              </a:r>
              <a:br>
                <a:rPr lang="fr-FR"/>
              </a:br>
              <a:r>
                <a:rPr lang="fr-FR"/>
                <a:t>description</a:t>
              </a:r>
              <a:br>
                <a:rPr lang="fr-FR"/>
              </a:br>
              <a:r>
                <a:rPr lang="fr-FR"/>
                <a:t>ville</a:t>
              </a:r>
              <a:br>
                <a:rPr lang="fr-FR"/>
              </a:br>
              <a:r>
                <a:rPr lang="fr-FR"/>
                <a:t>surface</a:t>
              </a:r>
              <a:br>
                <a:rPr lang="fr-FR"/>
              </a:br>
              <a:r>
                <a:rPr lang="fr-FR"/>
                <a:t>…</a:t>
              </a:r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>
              <a:off x="159" y="2252"/>
              <a:ext cx="1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11" name="Group 28"/>
          <p:cNvGrpSpPr>
            <a:grpSpLocks/>
          </p:cNvGrpSpPr>
          <p:nvPr/>
        </p:nvGrpSpPr>
        <p:grpSpPr bwMode="auto">
          <a:xfrm>
            <a:off x="2105025" y="5137431"/>
            <a:ext cx="1849438" cy="1568450"/>
            <a:chOff x="452" y="3100"/>
            <a:chExt cx="1165" cy="988"/>
          </a:xfrm>
        </p:grpSpPr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452" y="3100"/>
              <a:ext cx="1165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Region</a:t>
              </a:r>
              <a:br>
                <a:rPr lang="fr-FR"/>
              </a:br>
              <a:r>
                <a:rPr lang="fr-FR"/>
                <a:t>ID région</a:t>
              </a:r>
              <a:br>
                <a:rPr lang="fr-FR"/>
              </a:br>
              <a:r>
                <a:rPr lang="fr-FR"/>
                <a:t>pays</a:t>
              </a:r>
              <a:br>
                <a:rPr lang="fr-FR"/>
              </a:br>
              <a:r>
                <a:rPr lang="fr-FR"/>
                <a:t>description</a:t>
              </a:r>
              <a:br>
                <a:rPr lang="fr-FR"/>
              </a:br>
              <a:r>
                <a:rPr lang="fr-FR"/>
                <a:t>district vente</a:t>
              </a:r>
              <a:br>
                <a:rPr lang="fr-FR"/>
              </a:br>
              <a:r>
                <a:rPr lang="fr-FR"/>
                <a:t>….</a:t>
              </a:r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455" y="3289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12" name="Group 27"/>
          <p:cNvGrpSpPr>
            <a:grpSpLocks/>
          </p:cNvGrpSpPr>
          <p:nvPr/>
        </p:nvGrpSpPr>
        <p:grpSpPr bwMode="auto">
          <a:xfrm>
            <a:off x="8328025" y="2591081"/>
            <a:ext cx="1828800" cy="2301875"/>
            <a:chOff x="4015" y="2560"/>
            <a:chExt cx="1152" cy="1450"/>
          </a:xfrm>
        </p:grpSpPr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015" y="2560"/>
              <a:ext cx="1152" cy="1450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produit</a:t>
              </a:r>
              <a:br>
                <a:rPr lang="fr-FR"/>
              </a:br>
              <a:r>
                <a:rPr lang="fr-FR"/>
                <a:t>ID produit</a:t>
              </a:r>
              <a:br>
                <a:rPr lang="fr-FR"/>
              </a:br>
              <a:r>
                <a:rPr lang="fr-FR"/>
                <a:t>nom</a:t>
              </a:r>
              <a:br>
                <a:rPr lang="fr-FR"/>
              </a:br>
              <a:r>
                <a:rPr lang="fr-FR"/>
                <a:t>code</a:t>
              </a:r>
              <a:br>
                <a:rPr lang="fr-FR"/>
              </a:br>
              <a:r>
                <a:rPr lang="fr-FR"/>
                <a:t>prix</a:t>
              </a:r>
              <a:br>
                <a:rPr lang="fr-FR"/>
              </a:br>
              <a:r>
                <a:rPr lang="fr-FR"/>
                <a:t>poids</a:t>
              </a:r>
              <a:br>
                <a:rPr lang="fr-FR"/>
              </a:br>
              <a:r>
                <a:rPr lang="fr-FR"/>
                <a:t>groupe</a:t>
              </a:r>
              <a:br>
                <a:rPr lang="fr-FR"/>
              </a:br>
              <a:r>
                <a:rPr lang="fr-FR"/>
                <a:t>famille</a:t>
              </a:r>
              <a:br>
                <a:rPr lang="fr-FR"/>
              </a:br>
              <a:r>
                <a:rPr lang="fr-FR"/>
                <a:t>…</a:t>
              </a: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4025" y="2745"/>
              <a:ext cx="1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13" name="Group 26"/>
          <p:cNvGrpSpPr>
            <a:grpSpLocks/>
          </p:cNvGrpSpPr>
          <p:nvPr/>
        </p:nvGrpSpPr>
        <p:grpSpPr bwMode="auto">
          <a:xfrm>
            <a:off x="7737475" y="5112031"/>
            <a:ext cx="1728788" cy="1568450"/>
            <a:chOff x="3828" y="1178"/>
            <a:chExt cx="1089" cy="988"/>
          </a:xfrm>
        </p:grpSpPr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3830" y="1178"/>
              <a:ext cx="1087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Client</a:t>
              </a:r>
              <a:br>
                <a:rPr lang="fr-FR"/>
              </a:br>
              <a:r>
                <a:rPr lang="fr-FR"/>
                <a:t>ID client</a:t>
              </a:r>
            </a:p>
            <a:p>
              <a:pPr algn="ctr"/>
              <a:r>
                <a:rPr lang="fr-FR"/>
                <a:t>nom</a:t>
              </a:r>
              <a:br>
                <a:rPr lang="fr-FR"/>
              </a:br>
              <a:r>
                <a:rPr lang="fr-FR"/>
                <a:t>prénom</a:t>
              </a:r>
              <a:br>
                <a:rPr lang="fr-FR"/>
              </a:br>
              <a:r>
                <a:rPr lang="fr-FR"/>
                <a:t>adresse</a:t>
              </a:r>
              <a:br>
                <a:rPr lang="fr-FR"/>
              </a:br>
              <a:r>
                <a:rPr lang="fr-FR"/>
                <a:t>…</a:t>
              </a:r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V="1">
              <a:off x="3828" y="1363"/>
              <a:ext cx="1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cxnSp>
        <p:nvCxnSpPr>
          <p:cNvPr id="14" name="AutoShape 32"/>
          <p:cNvCxnSpPr>
            <a:cxnSpLocks noChangeShapeType="1"/>
            <a:stCxn id="20" idx="0"/>
            <a:endCxn id="30" idx="2"/>
          </p:cNvCxnSpPr>
          <p:nvPr/>
        </p:nvCxnSpPr>
        <p:spPr bwMode="auto">
          <a:xfrm rot="5400000" flipH="1">
            <a:off x="5831681" y="3336412"/>
            <a:ext cx="411163" cy="3175"/>
          </a:xfrm>
          <a:prstGeom prst="bentConnector3">
            <a:avLst>
              <a:gd name="adj1" fmla="val 49806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5" name="AutoShape 33"/>
          <p:cNvCxnSpPr>
            <a:cxnSpLocks noChangeShapeType="1"/>
            <a:stCxn id="20" idx="1"/>
            <a:endCxn id="28" idx="3"/>
          </p:cNvCxnSpPr>
          <p:nvPr/>
        </p:nvCxnSpPr>
        <p:spPr bwMode="auto">
          <a:xfrm rot="10800000">
            <a:off x="3879850" y="3718206"/>
            <a:ext cx="1163638" cy="854075"/>
          </a:xfrm>
          <a:prstGeom prst="bentConnector3">
            <a:avLst>
              <a:gd name="adj1" fmla="val 499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6" name="AutoShape 34"/>
          <p:cNvCxnSpPr>
            <a:cxnSpLocks noChangeShapeType="1"/>
            <a:stCxn id="20" idx="1"/>
            <a:endCxn id="26" idx="3"/>
          </p:cNvCxnSpPr>
          <p:nvPr/>
        </p:nvCxnSpPr>
        <p:spPr bwMode="auto">
          <a:xfrm rot="10800000" flipV="1">
            <a:off x="3954463" y="4572281"/>
            <a:ext cx="1089025" cy="134937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7" name="AutoShape 35"/>
          <p:cNvCxnSpPr>
            <a:cxnSpLocks noChangeShapeType="1"/>
            <a:stCxn id="20" idx="3"/>
            <a:endCxn id="22" idx="1"/>
          </p:cNvCxnSpPr>
          <p:nvPr/>
        </p:nvCxnSpPr>
        <p:spPr bwMode="auto">
          <a:xfrm>
            <a:off x="7032625" y="4572281"/>
            <a:ext cx="708025" cy="1323975"/>
          </a:xfrm>
          <a:prstGeom prst="bentConnector3">
            <a:avLst>
              <a:gd name="adj1" fmla="val 49778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" name="AutoShape 36"/>
          <p:cNvCxnSpPr>
            <a:cxnSpLocks noChangeShapeType="1"/>
            <a:stCxn id="20" idx="3"/>
            <a:endCxn id="24" idx="1"/>
          </p:cNvCxnSpPr>
          <p:nvPr/>
        </p:nvCxnSpPr>
        <p:spPr bwMode="auto">
          <a:xfrm flipV="1">
            <a:off x="7032625" y="3742018"/>
            <a:ext cx="1295400" cy="830263"/>
          </a:xfrm>
          <a:prstGeom prst="bentConnector3">
            <a:avLst>
              <a:gd name="adj1" fmla="val 4988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19" name="Group 37"/>
          <p:cNvGrpSpPr>
            <a:grpSpLocks/>
          </p:cNvGrpSpPr>
          <p:nvPr/>
        </p:nvGrpSpPr>
        <p:grpSpPr bwMode="auto">
          <a:xfrm>
            <a:off x="5043488" y="3543581"/>
            <a:ext cx="1989137" cy="2057400"/>
            <a:chOff x="2169" y="2071"/>
            <a:chExt cx="1253" cy="1296"/>
          </a:xfrm>
        </p:grpSpPr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2169" y="2071"/>
              <a:ext cx="1253" cy="129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>
                  <a:solidFill>
                    <a:schemeClr val="bg1"/>
                  </a:solidFill>
                </a:rPr>
                <a:t>Table de faits Achat</a:t>
              </a:r>
              <a:br>
                <a:rPr lang="fr-FR">
                  <a:solidFill>
                    <a:schemeClr val="bg1"/>
                  </a:solidFill>
                </a:rPr>
              </a:br>
              <a:r>
                <a:rPr lang="fr-FR">
                  <a:solidFill>
                    <a:schemeClr val="bg1"/>
                  </a:solidFill>
                </a:rPr>
                <a:t>ID client</a:t>
              </a:r>
              <a:br>
                <a:rPr lang="fr-FR">
                  <a:solidFill>
                    <a:schemeClr val="bg1"/>
                  </a:solidFill>
                </a:rPr>
              </a:br>
              <a:r>
                <a:rPr lang="fr-FR">
                  <a:solidFill>
                    <a:schemeClr val="bg1"/>
                  </a:solidFill>
                </a:rPr>
                <a:t>ID temps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ID magasin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ID région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ID produit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Quantité achetée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Montant des achats</a:t>
              </a:r>
            </a:p>
          </p:txBody>
        </p:sp>
        <p:sp>
          <p:nvSpPr>
            <p:cNvPr id="21" name="Line 8"/>
            <p:cNvSpPr>
              <a:spLocks noChangeShapeType="1"/>
            </p:cNvSpPr>
            <p:nvPr/>
          </p:nvSpPr>
          <p:spPr bwMode="auto">
            <a:xfrm>
              <a:off x="2171" y="2265"/>
              <a:ext cx="124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77815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717675" y="215107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II. Les types de modèles</a:t>
            </a:r>
          </a:p>
          <a:p>
            <a:pPr eaLnBrk="1" hangingPunct="1"/>
            <a:r>
              <a:rPr lang="fr-FR" dirty="0" smtClean="0"/>
              <a:t>          1) Modèle en étoile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/>
        </p:nvSpPr>
        <p:spPr bwMode="auto">
          <a:xfrm>
            <a:off x="8465343" y="6185694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10247241-C9A2-456B-BF8D-2E361A091346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8" name="Rectangle 7"/>
          <p:cNvSpPr>
            <a:spLocks noGrp="1" noChangeArrowheads="1"/>
          </p:cNvSpPr>
          <p:nvPr/>
        </p:nvSpPr>
        <p:spPr bwMode="auto">
          <a:xfrm>
            <a:off x="2036810" y="2092932"/>
            <a:ext cx="8548687" cy="302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fr-FR" dirty="0" smtClean="0"/>
              <a:t>Une table de fait centrale et des </a:t>
            </a:r>
            <a:r>
              <a:rPr lang="fr-FR" dirty="0" smtClean="0"/>
              <a:t>dimensions</a:t>
            </a:r>
          </a:p>
          <a:p>
            <a:pPr marL="0" indent="0" eaLnBrk="1" hangingPunct="1">
              <a:buNone/>
            </a:pPr>
            <a:endParaRPr lang="fr-FR" dirty="0" smtClean="0"/>
          </a:p>
          <a:p>
            <a:pPr eaLnBrk="1" hangingPunct="1"/>
            <a:r>
              <a:rPr lang="fr-FR" dirty="0" smtClean="0"/>
              <a:t>Les dimensions n’ont pas de liaison entre </a:t>
            </a:r>
            <a:r>
              <a:rPr lang="fr-FR" dirty="0" smtClean="0"/>
              <a:t>elles</a:t>
            </a:r>
          </a:p>
          <a:p>
            <a:pPr marL="0" indent="0" eaLnBrk="1" hangingPunct="1">
              <a:buNone/>
            </a:pPr>
            <a:endParaRPr lang="fr-FR" dirty="0" smtClean="0"/>
          </a:p>
          <a:p>
            <a:pPr eaLnBrk="1" hangingPunct="1"/>
            <a:r>
              <a:rPr lang="fr-FR" dirty="0" smtClean="0"/>
              <a:t>La force de ce type est sa lisibilité et sa performance</a:t>
            </a: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669091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717675" y="215107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II. Les types de modèles</a:t>
            </a:r>
          </a:p>
          <a:p>
            <a:pPr eaLnBrk="1" hangingPunct="1"/>
            <a:r>
              <a:rPr lang="fr-FR" dirty="0" smtClean="0"/>
              <a:t>          2) Modèle en flocon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785798" y="1514617"/>
            <a:ext cx="9626273" cy="5561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lnSpc>
                <a:spcPct val="90000"/>
              </a:lnSpc>
            </a:pPr>
            <a:r>
              <a:rPr lang="fr-FR" sz="2400" dirty="0" smtClean="0"/>
              <a:t>Une table de fait et des dimensions décomposées en sous </a:t>
            </a:r>
            <a:r>
              <a:rPr lang="fr-FR" sz="2400" dirty="0" smtClean="0"/>
              <a:t>hiérarchies</a:t>
            </a: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fr-FR" sz="2400" dirty="0" smtClean="0"/>
          </a:p>
          <a:p>
            <a:pPr algn="just" eaLnBrk="1" hangingPunct="1">
              <a:lnSpc>
                <a:spcPct val="90000"/>
              </a:lnSpc>
            </a:pPr>
            <a:r>
              <a:rPr lang="fr-FR" sz="2400" dirty="0" smtClean="0"/>
              <a:t>On a un seul niveau hiérarchique dans une table de dimension </a:t>
            </a:r>
            <a:endParaRPr lang="fr-FR" sz="2400" dirty="0" smtClean="0"/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fr-FR" sz="2400" dirty="0" smtClean="0"/>
          </a:p>
          <a:p>
            <a:pPr algn="just" eaLnBrk="1" hangingPunct="1">
              <a:lnSpc>
                <a:spcPct val="90000"/>
              </a:lnSpc>
            </a:pPr>
            <a:r>
              <a:rPr lang="fr-FR" sz="2400" dirty="0" smtClean="0"/>
              <a:t>La table de dimension de niveau hiérarchique le plus bas est reliée à la table de fait. On dit qu’elle a la granularité la plus </a:t>
            </a:r>
            <a:r>
              <a:rPr lang="fr-FR" sz="2400" dirty="0" smtClean="0"/>
              <a:t>fine</a:t>
            </a:r>
          </a:p>
          <a:p>
            <a:pPr algn="just" eaLnBrk="1" hangingPunct="1">
              <a:lnSpc>
                <a:spcPct val="90000"/>
              </a:lnSpc>
            </a:pPr>
            <a:endParaRPr lang="fr-FR" sz="2400" dirty="0"/>
          </a:p>
          <a:p>
            <a:pPr algn="just" eaLnBrk="1" hangingPunct="1">
              <a:lnSpc>
                <a:spcPct val="90000"/>
              </a:lnSpc>
            </a:pPr>
            <a:r>
              <a:rPr lang="fr-FR" sz="2400" dirty="0" smtClean="0"/>
              <a:t>Cette modélisation est généralement justifiée par l’économie d’espace de stockage, cependant elle peut s’avérer moins compréhensible pour l’utilisateur final, et très couteuse en terme de performance.</a:t>
            </a:r>
            <a:endParaRPr lang="fr-FR" sz="2400" dirty="0" smtClean="0"/>
          </a:p>
          <a:p>
            <a:pPr algn="just" eaLnBrk="1" hangingPunct="1">
              <a:lnSpc>
                <a:spcPct val="90000"/>
              </a:lnSpc>
            </a:pPr>
            <a:endParaRPr lang="fr-FR" sz="2200" dirty="0" smtClean="0"/>
          </a:p>
        </p:txBody>
      </p:sp>
    </p:spTree>
    <p:extLst>
      <p:ext uri="{BB962C8B-B14F-4D97-AF65-F5344CB8AC3E}">
        <p14:creationId xmlns:p14="http://schemas.microsoft.com/office/powerpoint/2010/main" val="2508664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75745" y="29418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II. Les types de modèles</a:t>
            </a:r>
          </a:p>
          <a:p>
            <a:pPr eaLnBrk="1" hangingPunct="1"/>
            <a:r>
              <a:rPr lang="fr-FR" dirty="0" smtClean="0"/>
              <a:t>          2) Modèle en flocon</a:t>
            </a:r>
          </a:p>
        </p:txBody>
      </p:sp>
      <p:sp>
        <p:nvSpPr>
          <p:cNvPr id="4" name="Espace réservé du numéro de diapositive 5"/>
          <p:cNvSpPr>
            <a:spLocks noGrp="1"/>
          </p:cNvSpPr>
          <p:nvPr/>
        </p:nvSpPr>
        <p:spPr bwMode="auto">
          <a:xfrm>
            <a:off x="9228699" y="6230192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81C87E3C-0332-4F42-AC4B-8BFF67C00ACC}" type="slidenum">
              <a:rPr lang="fr-FR" smtClean="0"/>
              <a:pPr/>
              <a:t>11</a:t>
            </a:fld>
            <a:endParaRPr lang="fr-FR" smtClean="0"/>
          </a:p>
        </p:txBody>
      </p:sp>
      <p:sp>
        <p:nvSpPr>
          <p:cNvPr id="5" name="Freeform 77"/>
          <p:cNvSpPr>
            <a:spLocks/>
          </p:cNvSpPr>
          <p:nvPr/>
        </p:nvSpPr>
        <p:spPr bwMode="auto">
          <a:xfrm>
            <a:off x="2780274" y="1616917"/>
            <a:ext cx="8586788" cy="5092700"/>
          </a:xfrm>
          <a:custGeom>
            <a:avLst/>
            <a:gdLst>
              <a:gd name="T0" fmla="*/ 2147483647 w 876"/>
              <a:gd name="T1" fmla="*/ 2147483647 h 880"/>
              <a:gd name="T2" fmla="*/ 2147483647 w 876"/>
              <a:gd name="T3" fmla="*/ 2147483647 h 880"/>
              <a:gd name="T4" fmla="*/ 2147483647 w 876"/>
              <a:gd name="T5" fmla="*/ 2147483647 h 880"/>
              <a:gd name="T6" fmla="*/ 2147483647 w 876"/>
              <a:gd name="T7" fmla="*/ 2147483647 h 880"/>
              <a:gd name="T8" fmla="*/ 2147483647 w 876"/>
              <a:gd name="T9" fmla="*/ 2147483647 h 880"/>
              <a:gd name="T10" fmla="*/ 2147483647 w 876"/>
              <a:gd name="T11" fmla="*/ 2147483647 h 880"/>
              <a:gd name="T12" fmla="*/ 2147483647 w 876"/>
              <a:gd name="T13" fmla="*/ 2147483647 h 880"/>
              <a:gd name="T14" fmla="*/ 2147483647 w 876"/>
              <a:gd name="T15" fmla="*/ 2147483647 h 880"/>
              <a:gd name="T16" fmla="*/ 2147483647 w 876"/>
              <a:gd name="T17" fmla="*/ 2147483647 h 880"/>
              <a:gd name="T18" fmla="*/ 2147483647 w 876"/>
              <a:gd name="T19" fmla="*/ 2147483647 h 880"/>
              <a:gd name="T20" fmla="*/ 2147483647 w 876"/>
              <a:gd name="T21" fmla="*/ 2147483647 h 880"/>
              <a:gd name="T22" fmla="*/ 2147483647 w 876"/>
              <a:gd name="T23" fmla="*/ 2147483647 h 880"/>
              <a:gd name="T24" fmla="*/ 2147483647 w 876"/>
              <a:gd name="T25" fmla="*/ 2147483647 h 880"/>
              <a:gd name="T26" fmla="*/ 2147483647 w 876"/>
              <a:gd name="T27" fmla="*/ 2147483647 h 880"/>
              <a:gd name="T28" fmla="*/ 2147483647 w 876"/>
              <a:gd name="T29" fmla="*/ 2147483647 h 880"/>
              <a:gd name="T30" fmla="*/ 2147483647 w 876"/>
              <a:gd name="T31" fmla="*/ 2147483647 h 880"/>
              <a:gd name="T32" fmla="*/ 2147483647 w 876"/>
              <a:gd name="T33" fmla="*/ 2147483647 h 880"/>
              <a:gd name="T34" fmla="*/ 2147483647 w 876"/>
              <a:gd name="T35" fmla="*/ 2147483647 h 880"/>
              <a:gd name="T36" fmla="*/ 2147483647 w 876"/>
              <a:gd name="T37" fmla="*/ 2147483647 h 880"/>
              <a:gd name="T38" fmla="*/ 2147483647 w 876"/>
              <a:gd name="T39" fmla="*/ 2147483647 h 880"/>
              <a:gd name="T40" fmla="*/ 2147483647 w 876"/>
              <a:gd name="T41" fmla="*/ 2147483647 h 880"/>
              <a:gd name="T42" fmla="*/ 2147483647 w 876"/>
              <a:gd name="T43" fmla="*/ 2147483647 h 880"/>
              <a:gd name="T44" fmla="*/ 2147483647 w 876"/>
              <a:gd name="T45" fmla="*/ 2147483647 h 880"/>
              <a:gd name="T46" fmla="*/ 2147483647 w 876"/>
              <a:gd name="T47" fmla="*/ 2147483647 h 880"/>
              <a:gd name="T48" fmla="*/ 2147483647 w 876"/>
              <a:gd name="T49" fmla="*/ 2147483647 h 880"/>
              <a:gd name="T50" fmla="*/ 2147483647 w 876"/>
              <a:gd name="T51" fmla="*/ 2147483647 h 880"/>
              <a:gd name="T52" fmla="*/ 2147483647 w 876"/>
              <a:gd name="T53" fmla="*/ 2147483647 h 880"/>
              <a:gd name="T54" fmla="*/ 2147483647 w 876"/>
              <a:gd name="T55" fmla="*/ 2147483647 h 880"/>
              <a:gd name="T56" fmla="*/ 2147483647 w 876"/>
              <a:gd name="T57" fmla="*/ 2147483647 h 880"/>
              <a:gd name="T58" fmla="*/ 2147483647 w 876"/>
              <a:gd name="T59" fmla="*/ 2147483647 h 880"/>
              <a:gd name="T60" fmla="*/ 2147483647 w 876"/>
              <a:gd name="T61" fmla="*/ 2147483647 h 880"/>
              <a:gd name="T62" fmla="*/ 2147483647 w 876"/>
              <a:gd name="T63" fmla="*/ 2147483647 h 880"/>
              <a:gd name="T64" fmla="*/ 2147483647 w 876"/>
              <a:gd name="T65" fmla="*/ 2147483647 h 880"/>
              <a:gd name="T66" fmla="*/ 2147483647 w 876"/>
              <a:gd name="T67" fmla="*/ 2147483647 h 880"/>
              <a:gd name="T68" fmla="*/ 2147483647 w 876"/>
              <a:gd name="T69" fmla="*/ 2147483647 h 880"/>
              <a:gd name="T70" fmla="*/ 2147483647 w 876"/>
              <a:gd name="T71" fmla="*/ 2147483647 h 880"/>
              <a:gd name="T72" fmla="*/ 2147483647 w 876"/>
              <a:gd name="T73" fmla="*/ 2147483647 h 880"/>
              <a:gd name="T74" fmla="*/ 2147483647 w 876"/>
              <a:gd name="T75" fmla="*/ 2147483647 h 880"/>
              <a:gd name="T76" fmla="*/ 2147483647 w 876"/>
              <a:gd name="T77" fmla="*/ 2147483647 h 880"/>
              <a:gd name="T78" fmla="*/ 2147483647 w 876"/>
              <a:gd name="T79" fmla="*/ 2147483647 h 880"/>
              <a:gd name="T80" fmla="*/ 2147483647 w 876"/>
              <a:gd name="T81" fmla="*/ 2147483647 h 880"/>
              <a:gd name="T82" fmla="*/ 2147483647 w 876"/>
              <a:gd name="T83" fmla="*/ 2147483647 h 880"/>
              <a:gd name="T84" fmla="*/ 2147483647 w 876"/>
              <a:gd name="T85" fmla="*/ 2147483647 h 880"/>
              <a:gd name="T86" fmla="*/ 2147483647 w 876"/>
              <a:gd name="T87" fmla="*/ 2147483647 h 880"/>
              <a:gd name="T88" fmla="*/ 2147483647 w 876"/>
              <a:gd name="T89" fmla="*/ 2147483647 h 880"/>
              <a:gd name="T90" fmla="*/ 2147483647 w 876"/>
              <a:gd name="T91" fmla="*/ 2147483647 h 88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876"/>
              <a:gd name="T139" fmla="*/ 0 h 880"/>
              <a:gd name="T140" fmla="*/ 876 w 876"/>
              <a:gd name="T141" fmla="*/ 880 h 880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876" h="880">
                <a:moveTo>
                  <a:pt x="876" y="372"/>
                </a:moveTo>
                <a:lnTo>
                  <a:pt x="868" y="320"/>
                </a:lnTo>
                <a:lnTo>
                  <a:pt x="856" y="312"/>
                </a:lnTo>
                <a:lnTo>
                  <a:pt x="722" y="354"/>
                </a:lnTo>
                <a:lnTo>
                  <a:pt x="780" y="222"/>
                </a:lnTo>
                <a:lnTo>
                  <a:pt x="768" y="212"/>
                </a:lnTo>
                <a:lnTo>
                  <a:pt x="676" y="364"/>
                </a:lnTo>
                <a:lnTo>
                  <a:pt x="600" y="380"/>
                </a:lnTo>
                <a:lnTo>
                  <a:pt x="514" y="362"/>
                </a:lnTo>
                <a:lnTo>
                  <a:pt x="520" y="274"/>
                </a:lnTo>
                <a:lnTo>
                  <a:pt x="548" y="202"/>
                </a:lnTo>
                <a:lnTo>
                  <a:pt x="698" y="164"/>
                </a:lnTo>
                <a:lnTo>
                  <a:pt x="698" y="118"/>
                </a:lnTo>
                <a:lnTo>
                  <a:pt x="686" y="110"/>
                </a:lnTo>
                <a:lnTo>
                  <a:pt x="566" y="156"/>
                </a:lnTo>
                <a:lnTo>
                  <a:pt x="620" y="8"/>
                </a:lnTo>
                <a:lnTo>
                  <a:pt x="608" y="0"/>
                </a:lnTo>
                <a:lnTo>
                  <a:pt x="522" y="140"/>
                </a:lnTo>
                <a:lnTo>
                  <a:pt x="444" y="28"/>
                </a:lnTo>
                <a:lnTo>
                  <a:pt x="432" y="20"/>
                </a:lnTo>
                <a:lnTo>
                  <a:pt x="416" y="62"/>
                </a:lnTo>
                <a:lnTo>
                  <a:pt x="506" y="188"/>
                </a:lnTo>
                <a:lnTo>
                  <a:pt x="482" y="260"/>
                </a:lnTo>
                <a:lnTo>
                  <a:pt x="428" y="330"/>
                </a:lnTo>
                <a:lnTo>
                  <a:pt x="360" y="300"/>
                </a:lnTo>
                <a:lnTo>
                  <a:pt x="304" y="230"/>
                </a:lnTo>
                <a:lnTo>
                  <a:pt x="352" y="76"/>
                </a:lnTo>
                <a:lnTo>
                  <a:pt x="316" y="54"/>
                </a:lnTo>
                <a:lnTo>
                  <a:pt x="276" y="192"/>
                </a:lnTo>
                <a:lnTo>
                  <a:pt x="184" y="74"/>
                </a:lnTo>
                <a:lnTo>
                  <a:pt x="172" y="68"/>
                </a:lnTo>
                <a:lnTo>
                  <a:pt x="240" y="224"/>
                </a:lnTo>
                <a:lnTo>
                  <a:pt x="104" y="244"/>
                </a:lnTo>
                <a:lnTo>
                  <a:pt x="106" y="276"/>
                </a:lnTo>
                <a:lnTo>
                  <a:pt x="118" y="284"/>
                </a:lnTo>
                <a:lnTo>
                  <a:pt x="272" y="260"/>
                </a:lnTo>
                <a:lnTo>
                  <a:pt x="332" y="336"/>
                </a:lnTo>
                <a:lnTo>
                  <a:pt x="370" y="406"/>
                </a:lnTo>
                <a:lnTo>
                  <a:pt x="308" y="442"/>
                </a:lnTo>
                <a:lnTo>
                  <a:pt x="198" y="464"/>
                </a:lnTo>
                <a:lnTo>
                  <a:pt x="94" y="350"/>
                </a:lnTo>
                <a:lnTo>
                  <a:pt x="82" y="340"/>
                </a:lnTo>
                <a:lnTo>
                  <a:pt x="152" y="474"/>
                </a:lnTo>
                <a:lnTo>
                  <a:pt x="4" y="502"/>
                </a:lnTo>
                <a:lnTo>
                  <a:pt x="0" y="544"/>
                </a:lnTo>
                <a:lnTo>
                  <a:pt x="12" y="552"/>
                </a:lnTo>
                <a:lnTo>
                  <a:pt x="158" y="520"/>
                </a:lnTo>
                <a:lnTo>
                  <a:pt x="90" y="644"/>
                </a:lnTo>
                <a:lnTo>
                  <a:pt x="100" y="652"/>
                </a:lnTo>
                <a:lnTo>
                  <a:pt x="144" y="658"/>
                </a:lnTo>
                <a:lnTo>
                  <a:pt x="204" y="510"/>
                </a:lnTo>
                <a:lnTo>
                  <a:pt x="308" y="486"/>
                </a:lnTo>
                <a:lnTo>
                  <a:pt x="382" y="488"/>
                </a:lnTo>
                <a:lnTo>
                  <a:pt x="372" y="566"/>
                </a:lnTo>
                <a:lnTo>
                  <a:pt x="332" y="670"/>
                </a:lnTo>
                <a:lnTo>
                  <a:pt x="170" y="746"/>
                </a:lnTo>
                <a:lnTo>
                  <a:pt x="182" y="754"/>
                </a:lnTo>
                <a:lnTo>
                  <a:pt x="316" y="716"/>
                </a:lnTo>
                <a:lnTo>
                  <a:pt x="252" y="858"/>
                </a:lnTo>
                <a:lnTo>
                  <a:pt x="260" y="864"/>
                </a:lnTo>
                <a:lnTo>
                  <a:pt x="306" y="880"/>
                </a:lnTo>
                <a:lnTo>
                  <a:pt x="358" y="732"/>
                </a:lnTo>
                <a:lnTo>
                  <a:pt x="424" y="836"/>
                </a:lnTo>
                <a:lnTo>
                  <a:pt x="436" y="846"/>
                </a:lnTo>
                <a:lnTo>
                  <a:pt x="464" y="812"/>
                </a:lnTo>
                <a:lnTo>
                  <a:pt x="374" y="686"/>
                </a:lnTo>
                <a:lnTo>
                  <a:pt x="410" y="582"/>
                </a:lnTo>
                <a:lnTo>
                  <a:pt x="462" y="522"/>
                </a:lnTo>
                <a:lnTo>
                  <a:pt x="516" y="568"/>
                </a:lnTo>
                <a:lnTo>
                  <a:pt x="516" y="566"/>
                </a:lnTo>
                <a:lnTo>
                  <a:pt x="576" y="644"/>
                </a:lnTo>
                <a:lnTo>
                  <a:pt x="528" y="798"/>
                </a:lnTo>
                <a:lnTo>
                  <a:pt x="564" y="820"/>
                </a:lnTo>
                <a:lnTo>
                  <a:pt x="604" y="680"/>
                </a:lnTo>
                <a:lnTo>
                  <a:pt x="686" y="792"/>
                </a:lnTo>
                <a:lnTo>
                  <a:pt x="696" y="798"/>
                </a:lnTo>
                <a:lnTo>
                  <a:pt x="734" y="766"/>
                </a:lnTo>
                <a:lnTo>
                  <a:pt x="640" y="648"/>
                </a:lnTo>
                <a:lnTo>
                  <a:pt x="776" y="630"/>
                </a:lnTo>
                <a:lnTo>
                  <a:pt x="762" y="590"/>
                </a:lnTo>
                <a:lnTo>
                  <a:pt x="750" y="582"/>
                </a:lnTo>
                <a:lnTo>
                  <a:pt x="610" y="612"/>
                </a:lnTo>
                <a:lnTo>
                  <a:pt x="550" y="538"/>
                </a:lnTo>
                <a:lnTo>
                  <a:pt x="532" y="468"/>
                </a:lnTo>
                <a:lnTo>
                  <a:pt x="606" y="424"/>
                </a:lnTo>
                <a:lnTo>
                  <a:pt x="682" y="408"/>
                </a:lnTo>
                <a:lnTo>
                  <a:pt x="774" y="516"/>
                </a:lnTo>
                <a:lnTo>
                  <a:pt x="786" y="524"/>
                </a:lnTo>
                <a:lnTo>
                  <a:pt x="822" y="502"/>
                </a:lnTo>
                <a:lnTo>
                  <a:pt x="730" y="400"/>
                </a:lnTo>
                <a:lnTo>
                  <a:pt x="876" y="372"/>
                </a:lnTo>
                <a:close/>
              </a:path>
            </a:pathLst>
          </a:custGeom>
          <a:solidFill>
            <a:schemeClr val="accent1">
              <a:alpha val="49019"/>
            </a:schemeClr>
          </a:solidFill>
          <a:ln w="9525">
            <a:noFill/>
            <a:round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4721788" y="1240680"/>
            <a:ext cx="1833563" cy="1568450"/>
            <a:chOff x="2221" y="734"/>
            <a:chExt cx="1155" cy="988"/>
          </a:xfrm>
        </p:grpSpPr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2224" y="734"/>
              <a:ext cx="1152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Temps</a:t>
              </a:r>
              <a:br>
                <a:rPr lang="fr-FR"/>
              </a:br>
              <a:r>
                <a:rPr lang="fr-FR"/>
                <a:t>ID temps</a:t>
              </a:r>
              <a:br>
                <a:rPr lang="fr-FR"/>
              </a:br>
              <a:r>
                <a:rPr lang="fr-FR"/>
                <a:t>annee</a:t>
              </a:r>
              <a:br>
                <a:rPr lang="fr-FR"/>
              </a:br>
              <a:r>
                <a:rPr lang="fr-FR"/>
                <a:t>mois</a:t>
              </a:r>
              <a:br>
                <a:rPr lang="fr-FR"/>
              </a:br>
              <a:r>
                <a:rPr lang="fr-FR"/>
                <a:t>jour</a:t>
              </a:r>
              <a:br>
                <a:rPr lang="fr-FR"/>
              </a:br>
              <a:r>
                <a:rPr lang="fr-FR"/>
                <a:t>…</a:t>
              </a: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2221" y="928"/>
              <a:ext cx="11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2605649" y="2243980"/>
            <a:ext cx="1993900" cy="1568450"/>
            <a:chOff x="158" y="2058"/>
            <a:chExt cx="1256" cy="988"/>
          </a:xfrm>
        </p:grpSpPr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58" y="2058"/>
              <a:ext cx="1244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dirty="0"/>
                <a:t>Dimension Magasin</a:t>
              </a:r>
              <a:br>
                <a:rPr lang="fr-FR" dirty="0"/>
              </a:br>
              <a:r>
                <a:rPr lang="fr-FR" dirty="0"/>
                <a:t>ID magasin</a:t>
              </a:r>
              <a:br>
                <a:rPr lang="fr-FR" dirty="0"/>
              </a:br>
              <a:r>
                <a:rPr lang="fr-FR" dirty="0"/>
                <a:t>description</a:t>
              </a:r>
              <a:br>
                <a:rPr lang="fr-FR" dirty="0"/>
              </a:br>
              <a:r>
                <a:rPr lang="fr-FR" dirty="0"/>
                <a:t>ville</a:t>
              </a:r>
              <a:br>
                <a:rPr lang="fr-FR" dirty="0"/>
              </a:br>
              <a:r>
                <a:rPr lang="fr-FR" dirty="0"/>
                <a:t>surface</a:t>
              </a:r>
              <a:br>
                <a:rPr lang="fr-FR" dirty="0"/>
              </a:br>
              <a:endParaRPr lang="fr-FR" dirty="0"/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159" y="2252"/>
              <a:ext cx="1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8" name="Group 55"/>
          <p:cNvGrpSpPr>
            <a:grpSpLocks/>
          </p:cNvGrpSpPr>
          <p:nvPr/>
        </p:nvGrpSpPr>
        <p:grpSpPr bwMode="auto">
          <a:xfrm>
            <a:off x="7191937" y="1088280"/>
            <a:ext cx="1835150" cy="1266825"/>
            <a:chOff x="2969" y="921"/>
            <a:chExt cx="1156" cy="798"/>
          </a:xfrm>
        </p:grpSpPr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969" y="1040"/>
              <a:ext cx="1156" cy="679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dirty="0"/>
                <a:t>Dimension produit</a:t>
              </a:r>
              <a:br>
                <a:rPr lang="fr-FR" dirty="0"/>
              </a:br>
              <a:r>
                <a:rPr lang="fr-FR" dirty="0"/>
                <a:t>ID </a:t>
              </a:r>
              <a:r>
                <a:rPr lang="fr-FR" dirty="0" smtClean="0"/>
                <a:t>produit</a:t>
              </a:r>
              <a:r>
                <a:rPr lang="fr-FR" dirty="0"/>
                <a:t/>
              </a:r>
              <a:br>
                <a:rPr lang="fr-FR" dirty="0"/>
              </a:br>
              <a:r>
                <a:rPr lang="fr-FR" dirty="0" smtClean="0"/>
                <a:t>nom</a:t>
              </a:r>
            </a:p>
            <a:p>
              <a:pPr algn="ctr"/>
              <a:r>
                <a:rPr lang="fr-FR" dirty="0"/>
                <a:t>ID </a:t>
              </a:r>
              <a:r>
                <a:rPr lang="fr-FR" dirty="0" smtClean="0"/>
                <a:t>groupe</a:t>
              </a:r>
              <a:endParaRPr lang="fr-FR" dirty="0"/>
            </a:p>
          </p:txBody>
        </p:sp>
        <p:sp>
          <p:nvSpPr>
            <p:cNvPr id="36" name="Line 45"/>
            <p:cNvSpPr>
              <a:spLocks noChangeShapeType="1"/>
            </p:cNvSpPr>
            <p:nvPr/>
          </p:nvSpPr>
          <p:spPr bwMode="auto">
            <a:xfrm>
              <a:off x="2981" y="921"/>
              <a:ext cx="11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7579287" y="5241180"/>
            <a:ext cx="1728787" cy="1568450"/>
            <a:chOff x="3828" y="1178"/>
            <a:chExt cx="1089" cy="988"/>
          </a:xfrm>
        </p:grpSpPr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3830" y="1178"/>
              <a:ext cx="1087" cy="988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/>
                <a:t>Dimension Client</a:t>
              </a:r>
              <a:br>
                <a:rPr lang="fr-FR"/>
              </a:br>
              <a:r>
                <a:rPr lang="fr-FR"/>
                <a:t>ID client</a:t>
              </a:r>
            </a:p>
            <a:p>
              <a:pPr algn="ctr"/>
              <a:r>
                <a:rPr lang="fr-FR"/>
                <a:t>nom</a:t>
              </a:r>
              <a:br>
                <a:rPr lang="fr-FR"/>
              </a:br>
              <a:r>
                <a:rPr lang="fr-FR"/>
                <a:t>prénom</a:t>
              </a:r>
              <a:br>
                <a:rPr lang="fr-FR"/>
              </a:br>
              <a:r>
                <a:rPr lang="fr-FR"/>
                <a:t>adresse</a:t>
              </a:r>
              <a:br>
                <a:rPr lang="fr-FR"/>
              </a:br>
              <a:r>
                <a:rPr lang="fr-FR"/>
                <a:t>…</a:t>
              </a:r>
            </a:p>
          </p:txBody>
        </p:sp>
        <p:sp>
          <p:nvSpPr>
            <p:cNvPr id="34" name="Line 48"/>
            <p:cNvSpPr>
              <a:spLocks noChangeShapeType="1"/>
            </p:cNvSpPr>
            <p:nvPr/>
          </p:nvSpPr>
          <p:spPr bwMode="auto">
            <a:xfrm flipV="1">
              <a:off x="3828" y="1363"/>
              <a:ext cx="1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9193778" y="2429718"/>
            <a:ext cx="1860551" cy="1077913"/>
            <a:chOff x="4250" y="1542"/>
            <a:chExt cx="1172" cy="679"/>
          </a:xfrm>
        </p:grpSpPr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4250" y="1542"/>
              <a:ext cx="1163" cy="679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dirty="0"/>
                <a:t>Dimension groupe</a:t>
              </a:r>
              <a:br>
                <a:rPr lang="fr-FR" dirty="0"/>
              </a:br>
              <a:r>
                <a:rPr lang="fr-FR" dirty="0"/>
                <a:t>ID </a:t>
              </a:r>
              <a:r>
                <a:rPr lang="fr-FR" dirty="0" smtClean="0"/>
                <a:t>groupe</a:t>
              </a:r>
              <a:r>
                <a:rPr lang="fr-FR" dirty="0"/>
                <a:t/>
              </a:r>
              <a:br>
                <a:rPr lang="fr-FR" dirty="0"/>
              </a:br>
              <a:r>
                <a:rPr lang="fr-FR" dirty="0" smtClean="0"/>
                <a:t>groupe</a:t>
              </a:r>
              <a:r>
                <a:rPr lang="fr-FR" dirty="0"/>
                <a:t/>
              </a:r>
              <a:br>
                <a:rPr lang="fr-FR" dirty="0"/>
              </a:br>
              <a:r>
                <a:rPr lang="fr-FR" dirty="0"/>
                <a:t>ID famille</a:t>
              </a:r>
              <a:endParaRPr lang="fr-FR" dirty="0"/>
            </a:p>
          </p:txBody>
        </p:sp>
        <p:sp>
          <p:nvSpPr>
            <p:cNvPr id="32" name="Line 50"/>
            <p:cNvSpPr>
              <a:spLocks noChangeShapeType="1"/>
            </p:cNvSpPr>
            <p:nvPr/>
          </p:nvSpPr>
          <p:spPr bwMode="auto">
            <a:xfrm>
              <a:off x="4257" y="1659"/>
              <a:ext cx="1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cxnSp>
        <p:nvCxnSpPr>
          <p:cNvPr id="11" name="AutoShape 53"/>
          <p:cNvCxnSpPr>
            <a:cxnSpLocks noChangeShapeType="1"/>
            <a:stCxn id="35" idx="3"/>
            <a:endCxn id="31" idx="0"/>
          </p:cNvCxnSpPr>
          <p:nvPr/>
        </p:nvCxnSpPr>
        <p:spPr bwMode="auto">
          <a:xfrm>
            <a:off x="9027087" y="1816150"/>
            <a:ext cx="1089823" cy="61356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12" name="Group 60"/>
          <p:cNvGrpSpPr>
            <a:grpSpLocks/>
          </p:cNvGrpSpPr>
          <p:nvPr/>
        </p:nvGrpSpPr>
        <p:grpSpPr bwMode="auto">
          <a:xfrm>
            <a:off x="9562076" y="4177558"/>
            <a:ext cx="1868488" cy="830263"/>
            <a:chOff x="4252" y="2688"/>
            <a:chExt cx="1177" cy="523"/>
          </a:xfrm>
        </p:grpSpPr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4252" y="2688"/>
              <a:ext cx="1177" cy="523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dirty="0"/>
                <a:t>Dimension Famille</a:t>
              </a:r>
              <a:br>
                <a:rPr lang="fr-FR" dirty="0"/>
              </a:br>
              <a:r>
                <a:rPr lang="fr-FR" dirty="0"/>
                <a:t>ID  famille</a:t>
              </a:r>
            </a:p>
            <a:p>
              <a:pPr algn="ctr"/>
              <a:r>
                <a:rPr lang="fr-FR" dirty="0" smtClean="0"/>
                <a:t>famille</a:t>
              </a:r>
              <a:endParaRPr lang="fr-FR" dirty="0"/>
            </a:p>
          </p:txBody>
        </p:sp>
        <p:sp>
          <p:nvSpPr>
            <p:cNvPr id="30" name="Line 59"/>
            <p:cNvSpPr>
              <a:spLocks noChangeShapeType="1"/>
            </p:cNvSpPr>
            <p:nvPr/>
          </p:nvSpPr>
          <p:spPr bwMode="auto">
            <a:xfrm flipV="1">
              <a:off x="4261" y="2789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cxnSp>
        <p:nvCxnSpPr>
          <p:cNvPr id="13" name="AutoShape 61"/>
          <p:cNvCxnSpPr>
            <a:cxnSpLocks noChangeShapeType="1"/>
            <a:stCxn id="31" idx="2"/>
            <a:endCxn id="29" idx="0"/>
          </p:cNvCxnSpPr>
          <p:nvPr/>
        </p:nvCxnSpPr>
        <p:spPr bwMode="auto">
          <a:xfrm rot="16200000" flipH="1">
            <a:off x="9971652" y="3652889"/>
            <a:ext cx="669927" cy="37941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14" name="Group 69"/>
          <p:cNvGrpSpPr>
            <a:grpSpLocks/>
          </p:cNvGrpSpPr>
          <p:nvPr/>
        </p:nvGrpSpPr>
        <p:grpSpPr bwMode="auto">
          <a:xfrm>
            <a:off x="2575487" y="5493595"/>
            <a:ext cx="1689101" cy="1077913"/>
            <a:chOff x="81" y="3472"/>
            <a:chExt cx="1064" cy="679"/>
          </a:xfrm>
        </p:grpSpPr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81" y="3472"/>
              <a:ext cx="1063" cy="679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dirty="0"/>
                <a:t>Dimension </a:t>
              </a:r>
              <a:br>
                <a:rPr lang="fr-FR" dirty="0"/>
              </a:br>
              <a:r>
                <a:rPr lang="fr-FR" dirty="0"/>
                <a:t>Division vente</a:t>
              </a:r>
              <a:br>
                <a:rPr lang="fr-FR" dirty="0"/>
              </a:br>
              <a:r>
                <a:rPr lang="fr-FR" dirty="0"/>
                <a:t>ID division vente</a:t>
              </a:r>
              <a:br>
                <a:rPr lang="fr-FR" dirty="0"/>
              </a:br>
              <a:r>
                <a:rPr lang="fr-FR" dirty="0" smtClean="0"/>
                <a:t>division</a:t>
              </a:r>
            </a:p>
          </p:txBody>
        </p:sp>
        <p:sp>
          <p:nvSpPr>
            <p:cNvPr id="28" name="Line 65"/>
            <p:cNvSpPr>
              <a:spLocks noChangeShapeType="1"/>
            </p:cNvSpPr>
            <p:nvPr/>
          </p:nvSpPr>
          <p:spPr bwMode="auto">
            <a:xfrm>
              <a:off x="82" y="3716"/>
              <a:ext cx="10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cxnSp>
        <p:nvCxnSpPr>
          <p:cNvPr id="15" name="AutoShape 67"/>
          <p:cNvCxnSpPr>
            <a:cxnSpLocks noChangeShapeType="1"/>
            <a:stCxn id="25" idx="1"/>
            <a:endCxn id="27" idx="0"/>
          </p:cNvCxnSpPr>
          <p:nvPr/>
        </p:nvCxnSpPr>
        <p:spPr bwMode="auto">
          <a:xfrm rot="10800000" flipV="1">
            <a:off x="3419244" y="4660951"/>
            <a:ext cx="505618" cy="83264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16" name="Group 68"/>
          <p:cNvGrpSpPr>
            <a:grpSpLocks/>
          </p:cNvGrpSpPr>
          <p:nvPr/>
        </p:nvGrpSpPr>
        <p:grpSpPr bwMode="auto">
          <a:xfrm>
            <a:off x="3924862" y="4121995"/>
            <a:ext cx="1857374" cy="1077913"/>
            <a:chOff x="931" y="2608"/>
            <a:chExt cx="1170" cy="679"/>
          </a:xfrm>
        </p:grpSpPr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931" y="2608"/>
              <a:ext cx="1170" cy="679"/>
            </a:xfrm>
            <a:prstGeom prst="rect">
              <a:avLst/>
            </a:prstGeom>
            <a:solidFill>
              <a:srgbClr val="E9E8D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 dirty="0"/>
                <a:t>Dimension </a:t>
              </a:r>
              <a:r>
                <a:rPr lang="fr-FR" dirty="0" err="1"/>
                <a:t>Region</a:t>
              </a:r>
              <a:r>
                <a:rPr lang="fr-FR" dirty="0"/>
                <a:t/>
              </a:r>
              <a:br>
                <a:rPr lang="fr-FR" dirty="0"/>
              </a:br>
              <a:r>
                <a:rPr lang="fr-FR" dirty="0"/>
                <a:t>ID </a:t>
              </a:r>
              <a:r>
                <a:rPr lang="fr-FR" dirty="0" smtClean="0"/>
                <a:t>région</a:t>
              </a:r>
              <a:r>
                <a:rPr lang="fr-FR" dirty="0"/>
                <a:t/>
              </a:r>
              <a:br>
                <a:rPr lang="fr-FR" dirty="0"/>
              </a:br>
              <a:r>
                <a:rPr lang="fr-FR" dirty="0" smtClean="0"/>
                <a:t>pays</a:t>
              </a:r>
              <a:endParaRPr lang="fr-FR" dirty="0"/>
            </a:p>
            <a:p>
              <a:pPr algn="ctr"/>
              <a:r>
                <a:rPr lang="fr-FR" dirty="0"/>
                <a:t>ID division vente</a:t>
              </a:r>
              <a:endParaRPr lang="fr-FR" dirty="0"/>
            </a:p>
          </p:txBody>
        </p:sp>
        <p:sp>
          <p:nvSpPr>
            <p:cNvPr id="26" name="Line 42"/>
            <p:cNvSpPr>
              <a:spLocks noChangeShapeType="1"/>
            </p:cNvSpPr>
            <p:nvPr/>
          </p:nvSpPr>
          <p:spPr bwMode="auto">
            <a:xfrm>
              <a:off x="936" y="2649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  <p:cxnSp>
        <p:nvCxnSpPr>
          <p:cNvPr id="17" name="AutoShape 70"/>
          <p:cNvCxnSpPr>
            <a:cxnSpLocks noChangeShapeType="1"/>
            <a:stCxn id="23" idx="2"/>
            <a:endCxn id="33" idx="0"/>
          </p:cNvCxnSpPr>
          <p:nvPr/>
        </p:nvCxnSpPr>
        <p:spPr bwMode="auto">
          <a:xfrm rot="16200000" flipH="1">
            <a:off x="7617387" y="4412505"/>
            <a:ext cx="238125" cy="141922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18" name="AutoShape 72"/>
          <p:cNvCxnSpPr>
            <a:cxnSpLocks noChangeShapeType="1"/>
            <a:stCxn id="23" idx="1"/>
            <a:endCxn id="37" idx="3"/>
          </p:cNvCxnSpPr>
          <p:nvPr/>
        </p:nvCxnSpPr>
        <p:spPr bwMode="auto">
          <a:xfrm flipH="1" flipV="1">
            <a:off x="4580499" y="3028205"/>
            <a:ext cx="1450975" cy="9461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" name="AutoShape 73"/>
          <p:cNvCxnSpPr>
            <a:cxnSpLocks noChangeShapeType="1"/>
            <a:stCxn id="24" idx="0"/>
            <a:endCxn id="39" idx="2"/>
          </p:cNvCxnSpPr>
          <p:nvPr/>
        </p:nvCxnSpPr>
        <p:spPr bwMode="auto">
          <a:xfrm rot="5400000" flipH="1">
            <a:off x="5615549" y="2834530"/>
            <a:ext cx="444500" cy="3937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0" name="AutoShape 74"/>
          <p:cNvCxnSpPr>
            <a:cxnSpLocks noChangeShapeType="1"/>
            <a:stCxn id="23" idx="3"/>
            <a:endCxn id="35" idx="2"/>
          </p:cNvCxnSpPr>
          <p:nvPr/>
        </p:nvCxnSpPr>
        <p:spPr bwMode="auto">
          <a:xfrm flipV="1">
            <a:off x="8020612" y="2355106"/>
            <a:ext cx="88900" cy="1619249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21" name="AutoShape 76"/>
          <p:cNvCxnSpPr>
            <a:cxnSpLocks noChangeShapeType="1"/>
            <a:stCxn id="23" idx="1"/>
            <a:endCxn id="25" idx="3"/>
          </p:cNvCxnSpPr>
          <p:nvPr/>
        </p:nvCxnSpPr>
        <p:spPr bwMode="auto">
          <a:xfrm rot="10800000" flipV="1">
            <a:off x="5782236" y="3974354"/>
            <a:ext cx="249238" cy="686597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grpSp>
        <p:nvGrpSpPr>
          <p:cNvPr id="22" name="Group 78"/>
          <p:cNvGrpSpPr>
            <a:grpSpLocks/>
          </p:cNvGrpSpPr>
          <p:nvPr/>
        </p:nvGrpSpPr>
        <p:grpSpPr bwMode="auto">
          <a:xfrm>
            <a:off x="6031474" y="2945655"/>
            <a:ext cx="1989138" cy="2057400"/>
            <a:chOff x="2258" y="1867"/>
            <a:chExt cx="1253" cy="1296"/>
          </a:xfrm>
        </p:grpSpPr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258" y="1867"/>
              <a:ext cx="1253" cy="1296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fr-FR">
                  <a:solidFill>
                    <a:schemeClr val="bg1"/>
                  </a:solidFill>
                </a:rPr>
                <a:t>Table de faits Achat</a:t>
              </a:r>
              <a:br>
                <a:rPr lang="fr-FR">
                  <a:solidFill>
                    <a:schemeClr val="bg1"/>
                  </a:solidFill>
                </a:rPr>
              </a:br>
              <a:r>
                <a:rPr lang="fr-FR">
                  <a:solidFill>
                    <a:schemeClr val="bg1"/>
                  </a:solidFill>
                </a:rPr>
                <a:t>ID client</a:t>
              </a:r>
              <a:br>
                <a:rPr lang="fr-FR">
                  <a:solidFill>
                    <a:schemeClr val="bg1"/>
                  </a:solidFill>
                </a:rPr>
              </a:br>
              <a:r>
                <a:rPr lang="fr-FR">
                  <a:solidFill>
                    <a:schemeClr val="bg1"/>
                  </a:solidFill>
                </a:rPr>
                <a:t>ID temps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ID magasin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ID région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ID produit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Quantité achetée</a:t>
              </a:r>
            </a:p>
            <a:p>
              <a:pPr algn="ctr"/>
              <a:r>
                <a:rPr lang="fr-FR">
                  <a:solidFill>
                    <a:schemeClr val="bg1"/>
                  </a:solidFill>
                </a:rPr>
                <a:t>Montant des achats</a:t>
              </a:r>
            </a:p>
          </p:txBody>
        </p:sp>
        <p:sp>
          <p:nvSpPr>
            <p:cNvPr id="24" name="Line 33"/>
            <p:cNvSpPr>
              <a:spLocks noChangeShapeType="1"/>
            </p:cNvSpPr>
            <p:nvPr/>
          </p:nvSpPr>
          <p:spPr bwMode="auto">
            <a:xfrm>
              <a:off x="2260" y="2061"/>
              <a:ext cx="124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fr-F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defRPr>
              </a:lvl9pPr>
            </a:lstStyle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81282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75745" y="29418"/>
            <a:ext cx="984679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II. Les types de modèles</a:t>
            </a:r>
          </a:p>
          <a:p>
            <a:pPr eaLnBrk="1" hangingPunct="1"/>
            <a:r>
              <a:rPr lang="fr-FR" dirty="0" smtClean="0"/>
              <a:t>          </a:t>
            </a:r>
            <a:r>
              <a:rPr lang="fr-FR" dirty="0" smtClean="0"/>
              <a:t>3) </a:t>
            </a:r>
            <a:r>
              <a:rPr lang="fr-FR" dirty="0" smtClean="0"/>
              <a:t>Modèle en </a:t>
            </a:r>
            <a:r>
              <a:rPr lang="fr-FR" dirty="0" smtClean="0"/>
              <a:t>constellation</a:t>
            </a:r>
            <a:endParaRPr lang="fr-FR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1408176" y="1331080"/>
            <a:ext cx="9537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/>
              <a:t>Ce n’est rien d’autre que plusieurs modèles en étoile liées entre eux par des dimensions communes</a:t>
            </a:r>
            <a:endParaRPr lang="fr-FR" sz="2000" dirty="0"/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22" y="2397089"/>
            <a:ext cx="7239627" cy="37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34555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0F0D020972FE47812203D8E9D92880" ma:contentTypeVersion="11" ma:contentTypeDescription="Crée un document." ma:contentTypeScope="" ma:versionID="c90134f9de34b8b5b767b35297e18fae">
  <xsd:schema xmlns:xsd="http://www.w3.org/2001/XMLSchema" xmlns:xs="http://www.w3.org/2001/XMLSchema" xmlns:p="http://schemas.microsoft.com/office/2006/metadata/properties" xmlns:ns2="6d27f957-83e6-4dca-be9b-a435a36946d6" xmlns:ns3="4380d711-1cc9-4144-abfd-5d54a99fc082" targetNamespace="http://schemas.microsoft.com/office/2006/metadata/properties" ma:root="true" ma:fieldsID="8bb6d77c40b7d7baa7814bc08b2eb6f2" ns2:_="" ns3:_="">
    <xsd:import namespace="6d27f957-83e6-4dca-be9b-a435a36946d6"/>
    <xsd:import namespace="4380d711-1cc9-4144-abfd-5d54a99fc0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27f957-83e6-4dca-be9b-a435a36946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5b5b1679-bd09-40cf-8c6b-b5999be86c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80d711-1cc9-4144-abfd-5d54a99fc08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6e97944-d9c7-40d6-b2b5-f41851aa1f0a}" ma:internalName="TaxCatchAll" ma:showField="CatchAllData" ma:web="4380d711-1cc9-4144-abfd-5d54a99fc0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27f957-83e6-4dca-be9b-a435a36946d6">
      <Terms xmlns="http://schemas.microsoft.com/office/infopath/2007/PartnerControls"/>
    </lcf76f155ced4ddcb4097134ff3c332f>
    <TaxCatchAll xmlns="4380d711-1cc9-4144-abfd-5d54a99fc082" xsi:nil="true"/>
  </documentManagement>
</p:properties>
</file>

<file path=customXml/itemProps1.xml><?xml version="1.0" encoding="utf-8"?>
<ds:datastoreItem xmlns:ds="http://schemas.openxmlformats.org/officeDocument/2006/customXml" ds:itemID="{2D3657CC-56F8-4B6F-8361-FAE4BD6B43BC}"/>
</file>

<file path=customXml/itemProps2.xml><?xml version="1.0" encoding="utf-8"?>
<ds:datastoreItem xmlns:ds="http://schemas.openxmlformats.org/officeDocument/2006/customXml" ds:itemID="{8E009A44-067F-476F-A706-DB68C49F068E}"/>
</file>

<file path=customXml/itemProps3.xml><?xml version="1.0" encoding="utf-8"?>
<ds:datastoreItem xmlns:ds="http://schemas.openxmlformats.org/officeDocument/2006/customXml" ds:itemID="{91D8E207-065B-4EF9-BF1D-7DE0C47447FD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259</TotalTime>
  <Words>527</Words>
  <Application>Microsoft Office PowerPoint</Application>
  <PresentationFormat>Grand écran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Wingdings</vt:lpstr>
      <vt:lpstr>Wingdings 3</vt:lpstr>
      <vt:lpstr>Brin</vt:lpstr>
      <vt:lpstr>Modélisation des DW</vt:lpstr>
      <vt:lpstr>Présentation PowerPoint</vt:lpstr>
      <vt:lpstr>Présentation PowerPoint</vt:lpstr>
      <vt:lpstr>Présentation PowerPoint</vt:lpstr>
      <vt:lpstr>Présentation PowerPoint</vt:lpstr>
      <vt:lpstr>Exemple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Modélisation des DW</dc:title>
  <dc:creator>benhamoudaroua@outlook.com</dc:creator>
  <cp:lastModifiedBy>benhamoudaroua@outlook.com</cp:lastModifiedBy>
  <cp:revision>41</cp:revision>
  <dcterms:created xsi:type="dcterms:W3CDTF">2021-10-05T14:42:14Z</dcterms:created>
  <dcterms:modified xsi:type="dcterms:W3CDTF">2021-10-06T20:49:13Z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0x0101006D0F0D020972FE47812203D8E9D92880</vt:lpwstr>
  </property>
</Properties>
</file>